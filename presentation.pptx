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95" r:id="rId3"/>
    <p:sldId id="279" r:id="rId4"/>
    <p:sldId id="281" r:id="rId5"/>
    <p:sldId id="282" r:id="rId6"/>
    <p:sldId id="283" r:id="rId7"/>
    <p:sldId id="284" r:id="rId8"/>
    <p:sldId id="285" r:id="rId9"/>
    <p:sldId id="287" r:id="rId10"/>
    <p:sldId id="288" r:id="rId11"/>
    <p:sldId id="289" r:id="rId12"/>
    <p:sldId id="290" r:id="rId13"/>
    <p:sldId id="291" r:id="rId14"/>
    <p:sldId id="292" r:id="rId15"/>
    <p:sldId id="293" r:id="rId16"/>
    <p:sldId id="280" r:id="rId17"/>
    <p:sldId id="29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FD5BE7-4B26-49F8-927B-865FE021A7C9}">
          <p14:sldIdLst>
            <p14:sldId id="278"/>
            <p14:sldId id="295"/>
            <p14:sldId id="279"/>
            <p14:sldId id="281"/>
            <p14:sldId id="282"/>
          </p14:sldIdLst>
        </p14:section>
        <p14:section name="Untitled Section" id="{E81CF83F-A2E4-4997-ABE7-A8FADDE59544}">
          <p14:sldIdLst>
            <p14:sldId id="283"/>
            <p14:sldId id="284"/>
            <p14:sldId id="285"/>
            <p14:sldId id="287"/>
            <p14:sldId id="288"/>
            <p14:sldId id="289"/>
            <p14:sldId id="290"/>
            <p14:sldId id="291"/>
            <p14:sldId id="292"/>
            <p14:sldId id="293"/>
            <p14:sldId id="280"/>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7EBB0-3852-8761-8743-31089C6513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9A30210-A225-7AE9-29D5-CB0CD5A7D1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56C89D-ED3C-97B5-D39B-2E9194484677}"/>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5" name="Footer Placeholder 4">
            <a:extLst>
              <a:ext uri="{FF2B5EF4-FFF2-40B4-BE49-F238E27FC236}">
                <a16:creationId xmlns:a16="http://schemas.microsoft.com/office/drawing/2014/main" id="{BC49B437-B371-55B3-C239-56958358FB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8A535A-B163-69F2-8058-6727D471DC56}"/>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4183840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279B1-EB3C-5AC2-082F-EC425B3A28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2C9261-C6E1-2874-9FF5-16F81C40C5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09426E-87C7-08E3-1F10-F9C1B441A58D}"/>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5" name="Footer Placeholder 4">
            <a:extLst>
              <a:ext uri="{FF2B5EF4-FFF2-40B4-BE49-F238E27FC236}">
                <a16:creationId xmlns:a16="http://schemas.microsoft.com/office/drawing/2014/main" id="{8B1CBC67-824D-52BB-F87A-E9851796D1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A33140-64CF-718A-E67C-09C8D44C1BC2}"/>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3054211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4E3CA-14AB-32FA-E583-ECC2E4BF78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888951-5DC1-2B59-6947-F29F775297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D3F510-5532-BB92-0C1B-18D040D1B1AB}"/>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5" name="Footer Placeholder 4">
            <a:extLst>
              <a:ext uri="{FF2B5EF4-FFF2-40B4-BE49-F238E27FC236}">
                <a16:creationId xmlns:a16="http://schemas.microsoft.com/office/drawing/2014/main" id="{469B6300-933C-6D02-1F16-7130207911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410092-6A37-B6CE-9E56-1842F124B1F8}"/>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3750232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5DBBF-D93E-80DB-8DF7-645863B76C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4EF0B5-AFC7-D705-C17B-A08C5D875C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3CF587-37B8-471D-9011-D545824C76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5865C9-29F3-E1A1-D721-999291AD5AD0}"/>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6" name="Footer Placeholder 5">
            <a:extLst>
              <a:ext uri="{FF2B5EF4-FFF2-40B4-BE49-F238E27FC236}">
                <a16:creationId xmlns:a16="http://schemas.microsoft.com/office/drawing/2014/main" id="{E090C3C4-70E8-7599-5492-EFCB178302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772A2C-87E3-1F01-B054-80B35781C2FF}"/>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2244568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D530B-5580-E672-BF0C-E409F5EBDD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2ED6AB-C80E-9428-E1AF-7DEE87D3C8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2C5E1F-E7F9-8EE5-43CB-D7D32BE4F4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0F3BFA-D6EB-85F4-6240-9B6D6BE313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9E1386-A484-F41A-A91A-D8B016FEF7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203B211-CC2E-08C5-F5E4-F0993BAEFC14}"/>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8" name="Footer Placeholder 7">
            <a:extLst>
              <a:ext uri="{FF2B5EF4-FFF2-40B4-BE49-F238E27FC236}">
                <a16:creationId xmlns:a16="http://schemas.microsoft.com/office/drawing/2014/main" id="{05EE9439-6151-4C59-0F8F-54383C21E3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2DFBA85-D48A-5070-D0E4-5FF46C979250}"/>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125406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A2FC8-100E-01F1-9386-08266A5A2C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93B02B-6A17-2AC1-CD23-A8077CD1068E}"/>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4" name="Footer Placeholder 3">
            <a:extLst>
              <a:ext uri="{FF2B5EF4-FFF2-40B4-BE49-F238E27FC236}">
                <a16:creationId xmlns:a16="http://schemas.microsoft.com/office/drawing/2014/main" id="{D7CA7BD1-B076-F61C-1770-1BB9837BF4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95D604-75D1-D0E8-E8D2-58CE1F2EF854}"/>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2473210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D5281B-5D73-8D6A-6298-D0E9DE73D1F8}"/>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3" name="Footer Placeholder 2">
            <a:extLst>
              <a:ext uri="{FF2B5EF4-FFF2-40B4-BE49-F238E27FC236}">
                <a16:creationId xmlns:a16="http://schemas.microsoft.com/office/drawing/2014/main" id="{EA0FF3D8-ED30-40FF-6CCA-3C2DF91735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017B805-E78A-ECCC-AA35-D933C62AC7F9}"/>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542662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EC72C-4BCE-1E21-67A1-ADAF062D67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0DFE38-65AF-3B80-E2CC-6770BA97A6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79F848-34F1-58CE-BF5A-0AEFF550E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4B834B-57B4-F83A-29C2-6D166BEE3ED7}"/>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6" name="Footer Placeholder 5">
            <a:extLst>
              <a:ext uri="{FF2B5EF4-FFF2-40B4-BE49-F238E27FC236}">
                <a16:creationId xmlns:a16="http://schemas.microsoft.com/office/drawing/2014/main" id="{52C02389-A0CB-91B3-A912-BC94F34F70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B3D4B5-6D2C-8F46-B395-08DE766216C4}"/>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3557824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7B24D-E487-4223-01CC-4E3333D18F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743E28-B434-9E23-5783-015DD92B03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F4DA7D-8CAA-246A-D0DF-96355EFC14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89C3A-0E30-2310-543D-AC1B380F1EF7}"/>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6" name="Footer Placeholder 5">
            <a:extLst>
              <a:ext uri="{FF2B5EF4-FFF2-40B4-BE49-F238E27FC236}">
                <a16:creationId xmlns:a16="http://schemas.microsoft.com/office/drawing/2014/main" id="{9E36F33F-E131-2EB7-66F4-D2956C523A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7B45C3-04C2-5965-B275-C572C4870FB7}"/>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1502997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9DBEA-05ED-3BF9-2523-9F5F96D7147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9E404B-9951-0FDC-A2BA-7D470F8C89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6BD91D-02C8-C531-C45D-DBD6DB95076E}"/>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5" name="Footer Placeholder 4">
            <a:extLst>
              <a:ext uri="{FF2B5EF4-FFF2-40B4-BE49-F238E27FC236}">
                <a16:creationId xmlns:a16="http://schemas.microsoft.com/office/drawing/2014/main" id="{48816BD4-A2CA-7E74-FE59-88939EB566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EEE883-A929-ADEC-63EF-3ABC39593829}"/>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2589437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0337E2-AA4F-3F74-628C-EB14D3FEE8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C9D6CF-0903-2D66-2255-8115F11845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5CA6B-0FDE-EDEA-A9AD-7D05802F1156}"/>
              </a:ext>
            </a:extLst>
          </p:cNvPr>
          <p:cNvSpPr>
            <a:spLocks noGrp="1"/>
          </p:cNvSpPr>
          <p:nvPr>
            <p:ph type="dt" sz="half" idx="10"/>
          </p:nvPr>
        </p:nvSpPr>
        <p:spPr/>
        <p:txBody>
          <a:bodyPr/>
          <a:lstStyle/>
          <a:p>
            <a:fld id="{0FDE5EE0-F6ED-4113-9D79-2DF3E8547392}" type="datetimeFigureOut">
              <a:rPr lang="en-IN" smtClean="0"/>
              <a:t>28-04-2025</a:t>
            </a:fld>
            <a:endParaRPr lang="en-IN"/>
          </a:p>
        </p:txBody>
      </p:sp>
      <p:sp>
        <p:nvSpPr>
          <p:cNvPr id="5" name="Footer Placeholder 4">
            <a:extLst>
              <a:ext uri="{FF2B5EF4-FFF2-40B4-BE49-F238E27FC236}">
                <a16:creationId xmlns:a16="http://schemas.microsoft.com/office/drawing/2014/main" id="{B57E2C6E-FB5E-83AA-1C38-FCFD7593DD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2196F2-9D70-6651-B09C-D76FB8025EF8}"/>
              </a:ext>
            </a:extLst>
          </p:cNvPr>
          <p:cNvSpPr>
            <a:spLocks noGrp="1"/>
          </p:cNvSpPr>
          <p:nvPr>
            <p:ph type="sldNum" sz="quarter" idx="12"/>
          </p:nvPr>
        </p:nvSpPr>
        <p:spPr/>
        <p:txBody>
          <a:bodyPr/>
          <a:lstStyle/>
          <a:p>
            <a:fld id="{7BC18393-5DB6-446B-8573-0C5C4A33CC9A}" type="slidenum">
              <a:rPr lang="en-IN" smtClean="0"/>
              <a:t>‹#›</a:t>
            </a:fld>
            <a:endParaRPr lang="en-IN"/>
          </a:p>
        </p:txBody>
      </p:sp>
    </p:spTree>
    <p:extLst>
      <p:ext uri="{BB962C8B-B14F-4D97-AF65-F5344CB8AC3E}">
        <p14:creationId xmlns:p14="http://schemas.microsoft.com/office/powerpoint/2010/main" val="2809437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EB4BAF-FE23-E5E0-ED83-3C16A18EB6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A1497A-586C-541F-8468-8869F1EBC3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F8616B-BA73-3208-3DB4-3357F33C47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DE5EE0-F6ED-4113-9D79-2DF3E8547392}" type="datetimeFigureOut">
              <a:rPr lang="en-IN" smtClean="0"/>
              <a:t>28-04-2025</a:t>
            </a:fld>
            <a:endParaRPr lang="en-IN"/>
          </a:p>
        </p:txBody>
      </p:sp>
      <p:sp>
        <p:nvSpPr>
          <p:cNvPr id="5" name="Footer Placeholder 4">
            <a:extLst>
              <a:ext uri="{FF2B5EF4-FFF2-40B4-BE49-F238E27FC236}">
                <a16:creationId xmlns:a16="http://schemas.microsoft.com/office/drawing/2014/main" id="{B4506CA1-9891-8CEA-46A4-85CC395082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D7216D1-D58A-5646-3DCB-278B7394E0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18393-5DB6-446B-8573-0C5C4A33CC9A}" type="slidenum">
              <a:rPr lang="en-IN" smtClean="0"/>
              <a:t>‹#›</a:t>
            </a:fld>
            <a:endParaRPr lang="en-IN"/>
          </a:p>
        </p:txBody>
      </p:sp>
    </p:spTree>
    <p:extLst>
      <p:ext uri="{BB962C8B-B14F-4D97-AF65-F5344CB8AC3E}">
        <p14:creationId xmlns:p14="http://schemas.microsoft.com/office/powerpoint/2010/main" val="1547067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web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55808-B855-E4E9-AF0B-5205DBDC6F7D}"/>
              </a:ext>
            </a:extLst>
          </p:cNvPr>
          <p:cNvSpPr>
            <a:spLocks noGrp="1"/>
          </p:cNvSpPr>
          <p:nvPr>
            <p:ph type="title"/>
          </p:nvPr>
        </p:nvSpPr>
        <p:spPr/>
        <p:txBody>
          <a:bodyPr/>
          <a:lstStyle/>
          <a:p>
            <a:pPr algn="ctr"/>
            <a:r>
              <a:rPr lang="en-IN" b="1" dirty="0">
                <a:solidFill>
                  <a:schemeClr val="accent2">
                    <a:lumMod val="50000"/>
                  </a:schemeClr>
                </a:solidFill>
              </a:rPr>
              <a:t>Ravindra Singh Negi</a:t>
            </a:r>
            <a:br>
              <a:rPr lang="en-IN" b="1" dirty="0">
                <a:solidFill>
                  <a:schemeClr val="accent2">
                    <a:lumMod val="50000"/>
                  </a:schemeClr>
                </a:solidFill>
              </a:rPr>
            </a:br>
            <a:r>
              <a:rPr lang="en-IN" b="1" dirty="0">
                <a:solidFill>
                  <a:schemeClr val="accent2">
                    <a:lumMod val="50000"/>
                  </a:schemeClr>
                </a:solidFill>
              </a:rPr>
              <a:t>ZOMATO DATA ANALYSIS</a:t>
            </a:r>
          </a:p>
        </p:txBody>
      </p:sp>
      <p:pic>
        <p:nvPicPr>
          <p:cNvPr id="5" name="Content Placeholder 4">
            <a:extLst>
              <a:ext uri="{FF2B5EF4-FFF2-40B4-BE49-F238E27FC236}">
                <a16:creationId xmlns:a16="http://schemas.microsoft.com/office/drawing/2014/main" id="{DADFEFA0-BF72-2515-D7E5-273A7AABF6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3191" y="1825625"/>
            <a:ext cx="9747315" cy="4351338"/>
          </a:xfrm>
        </p:spPr>
      </p:pic>
    </p:spTree>
    <p:extLst>
      <p:ext uri="{BB962C8B-B14F-4D97-AF65-F5344CB8AC3E}">
        <p14:creationId xmlns:p14="http://schemas.microsoft.com/office/powerpoint/2010/main" val="1093751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7B73B-7178-0668-065E-66161882DFDE}"/>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0EBD13F-738E-720F-35D8-D4AB91E15F66}"/>
              </a:ext>
            </a:extLst>
          </p:cNvPr>
          <p:cNvSpPr>
            <a:spLocks noGrp="1"/>
          </p:cNvSpPr>
          <p:nvPr>
            <p:ph idx="1"/>
          </p:nvPr>
        </p:nvSpPr>
        <p:spPr/>
        <p:txBody>
          <a:bodyPr>
            <a:normAutofit fontScale="85000" lnSpcReduction="20000"/>
          </a:bodyPr>
          <a:lstStyle/>
          <a:p>
            <a:pPr>
              <a:buNone/>
            </a:pPr>
            <a:endParaRPr lang="en-US" dirty="0"/>
          </a:p>
          <a:p>
            <a:pPr>
              <a:buNone/>
            </a:pPr>
            <a:r>
              <a:rPr lang="en-US" dirty="0"/>
              <a:t>As Zomato aims to expand its presence by opening new restaurants, it is crucial to identify the most strategic locations for investment. The challenge lies in selecting cities and countries with the optimal balance of demand, affordability, and low competition. By analyzing key metrics such as average cost for two, customer ratings, existing restaurant density, and dining trends, this study seeks to provide data-driven recommendations for Zomato's expansion strategy.</a:t>
            </a:r>
          </a:p>
          <a:p>
            <a:pPr>
              <a:buNone/>
            </a:pPr>
            <a:r>
              <a:rPr lang="en-US" dirty="0"/>
              <a:t>This analysis will help answer:</a:t>
            </a:r>
          </a:p>
          <a:p>
            <a:pPr>
              <a:buFont typeface="Arial" panose="020B0604020202020204" pitchFamily="34" charset="0"/>
              <a:buChar char="•"/>
            </a:pPr>
            <a:r>
              <a:rPr lang="en-US" dirty="0"/>
              <a:t>Which countries and cities have the least competition while maintaining strong demand?</a:t>
            </a:r>
          </a:p>
          <a:p>
            <a:pPr>
              <a:buFont typeface="Arial" panose="020B0604020202020204" pitchFamily="34" charset="0"/>
              <a:buChar char="•"/>
            </a:pPr>
            <a:r>
              <a:rPr lang="en-US" dirty="0"/>
              <a:t>What price range is most attractive to customers in different regions?</a:t>
            </a:r>
          </a:p>
          <a:p>
            <a:pPr>
              <a:buFont typeface="Arial" panose="020B0604020202020204" pitchFamily="34" charset="0"/>
              <a:buChar char="•"/>
            </a:pPr>
            <a:r>
              <a:rPr lang="en-US" dirty="0"/>
              <a:t>How do customer ratings and dining preferences influence success in new markets?</a:t>
            </a:r>
          </a:p>
          <a:p>
            <a:pPr marL="0" indent="0">
              <a:buNone/>
            </a:pPr>
            <a:endParaRPr lang="en-IN" dirty="0"/>
          </a:p>
        </p:txBody>
      </p:sp>
    </p:spTree>
    <p:extLst>
      <p:ext uri="{BB962C8B-B14F-4D97-AF65-F5344CB8AC3E}">
        <p14:creationId xmlns:p14="http://schemas.microsoft.com/office/powerpoint/2010/main" val="146657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7E6B8E-6CC4-0C34-E15B-6B2003041685}"/>
              </a:ext>
            </a:extLst>
          </p:cNvPr>
          <p:cNvSpPr>
            <a:spLocks noGrp="1"/>
          </p:cNvSpPr>
          <p:nvPr>
            <p:ph idx="1"/>
          </p:nvPr>
        </p:nvSpPr>
        <p:spPr>
          <a:xfrm>
            <a:off x="838200" y="179109"/>
            <a:ext cx="10515600" cy="5997854"/>
          </a:xfrm>
        </p:spPr>
        <p:txBody>
          <a:bodyPr/>
          <a:lstStyle/>
          <a:p>
            <a:pPr marL="0" indent="0" algn="ctr">
              <a:buNone/>
            </a:pPr>
            <a:r>
              <a:rPr lang="en-US" sz="3600" b="0" i="0" dirty="0">
                <a:solidFill>
                  <a:schemeClr val="accent1">
                    <a:lumMod val="75000"/>
                  </a:schemeClr>
                </a:solidFill>
                <a:effectLst/>
                <a:latin typeface="Google Sans"/>
              </a:rPr>
              <a:t>About Zomato</a:t>
            </a:r>
          </a:p>
          <a:p>
            <a:pPr marL="0" indent="0" algn="ctr">
              <a:buNone/>
            </a:pPr>
            <a:r>
              <a:rPr lang="en-US" b="0" i="0" dirty="0">
                <a:solidFill>
                  <a:schemeClr val="accent2">
                    <a:lumMod val="75000"/>
                  </a:schemeClr>
                </a:solidFill>
                <a:effectLst/>
                <a:latin typeface="Google Sans"/>
              </a:rPr>
              <a:t>Zomato is a food delivery and restaurant discovery platform that helps users find restaurants, order food, and read reviews. </a:t>
            </a:r>
            <a:endParaRPr lang="en-IN" dirty="0">
              <a:solidFill>
                <a:schemeClr val="accent2">
                  <a:lumMod val="75000"/>
                </a:schemeClr>
              </a:solidFill>
            </a:endParaRPr>
          </a:p>
        </p:txBody>
      </p:sp>
      <p:pic>
        <p:nvPicPr>
          <p:cNvPr id="7" name="Picture 6">
            <a:extLst>
              <a:ext uri="{FF2B5EF4-FFF2-40B4-BE49-F238E27FC236}">
                <a16:creationId xmlns:a16="http://schemas.microsoft.com/office/drawing/2014/main" id="{AB110E9E-89C5-4CC6-12EF-B69960D984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04214"/>
            <a:ext cx="12192000" cy="4515636"/>
          </a:xfrm>
          <a:prstGeom prst="rect">
            <a:avLst/>
          </a:prstGeom>
        </p:spPr>
      </p:pic>
    </p:spTree>
    <p:extLst>
      <p:ext uri="{BB962C8B-B14F-4D97-AF65-F5344CB8AC3E}">
        <p14:creationId xmlns:p14="http://schemas.microsoft.com/office/powerpoint/2010/main" val="2671046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712989-C8FE-62E2-0E20-E429D14D68F2}"/>
              </a:ext>
            </a:extLst>
          </p:cNvPr>
          <p:cNvSpPr>
            <a:spLocks noGrp="1"/>
          </p:cNvSpPr>
          <p:nvPr>
            <p:ph idx="1"/>
          </p:nvPr>
        </p:nvSpPr>
        <p:spPr>
          <a:xfrm>
            <a:off x="4383464" y="122548"/>
            <a:ext cx="6970336" cy="6054415"/>
          </a:xfrm>
        </p:spPr>
        <p:txBody>
          <a:bodyPr/>
          <a:lstStyle/>
          <a:p>
            <a:pPr>
              <a:buNone/>
            </a:pPr>
            <a:r>
              <a:rPr lang="en-US" sz="2400" b="1" dirty="0"/>
              <a:t>Zomato Data Key Insights</a:t>
            </a:r>
          </a:p>
          <a:p>
            <a:pPr>
              <a:buFont typeface="Arial" panose="020B0604020202020204" pitchFamily="34" charset="0"/>
              <a:buChar char="•"/>
            </a:pPr>
            <a:r>
              <a:rPr lang="en-US" sz="1600" dirty="0"/>
              <a:t>Total Number of Countries: 15</a:t>
            </a:r>
          </a:p>
          <a:p>
            <a:pPr>
              <a:buFont typeface="Arial" panose="020B0604020202020204" pitchFamily="34" charset="0"/>
              <a:buChar char="•"/>
            </a:pPr>
            <a:r>
              <a:rPr lang="en-US" sz="1600" dirty="0"/>
              <a:t>Total Number of Cities: 141</a:t>
            </a:r>
          </a:p>
          <a:p>
            <a:pPr>
              <a:buFont typeface="Arial" panose="020B0604020202020204" pitchFamily="34" charset="0"/>
              <a:buChar char="•"/>
            </a:pPr>
            <a:r>
              <a:rPr lang="en-US" sz="1600" dirty="0"/>
              <a:t>Total Number of Restaurants: 7,433</a:t>
            </a:r>
          </a:p>
          <a:p>
            <a:pPr>
              <a:buFont typeface="Arial" panose="020B0604020202020204" pitchFamily="34" charset="0"/>
              <a:buChar char="•"/>
            </a:pPr>
            <a:r>
              <a:rPr lang="en-US" sz="1600" dirty="0"/>
              <a:t>Total Number of Cuisines: 1,826</a:t>
            </a:r>
          </a:p>
          <a:p>
            <a:pPr marL="0" indent="0">
              <a:buNone/>
            </a:pPr>
            <a:endParaRPr lang="en-US" sz="1600" dirty="0"/>
          </a:p>
          <a:p>
            <a:pPr marL="0" indent="0">
              <a:buNone/>
            </a:pPr>
            <a:r>
              <a:rPr lang="en-US" sz="2400" b="1" dirty="0"/>
              <a:t>Data cleaning and preprocessing –</a:t>
            </a:r>
          </a:p>
          <a:p>
            <a:r>
              <a:rPr lang="en-US" sz="1600" dirty="0"/>
              <a:t>Firstly checked the duplicate rows in the data. There were no duplicate rows present in the data</a:t>
            </a:r>
          </a:p>
          <a:p>
            <a:r>
              <a:rPr lang="en-US" sz="1600" dirty="0"/>
              <a:t>Country name present in another table using the </a:t>
            </a:r>
            <a:r>
              <a:rPr lang="en-US" sz="1600" dirty="0" err="1"/>
              <a:t>vlookup</a:t>
            </a:r>
            <a:r>
              <a:rPr lang="en-US" sz="1600" dirty="0"/>
              <a:t> fetched the country name in main table.</a:t>
            </a:r>
          </a:p>
          <a:p>
            <a:r>
              <a:rPr lang="en-US" sz="1600" dirty="0"/>
              <a:t>Checked the null values in the data. Few null values present in the column latitude, longitude and cuisines column. There were no use of latitude and longitude column for my further process then I deleted both column. In cuisines column I used mode function to fill the null values.</a:t>
            </a:r>
          </a:p>
          <a:p>
            <a:r>
              <a:rPr lang="en-US" sz="1600" dirty="0"/>
              <a:t>In Average cost for two column  the amounts were present in different currencies. I made a new column in which I changed the all amount in Indian </a:t>
            </a:r>
            <a:r>
              <a:rPr lang="en-US" sz="1600" i="1" dirty="0"/>
              <a:t>INR</a:t>
            </a:r>
            <a:r>
              <a:rPr lang="en-US" sz="1600" dirty="0"/>
              <a:t>.</a:t>
            </a:r>
          </a:p>
          <a:p>
            <a:pPr marL="0" indent="0">
              <a:buNone/>
            </a:pPr>
            <a:endParaRPr lang="en-IN" dirty="0"/>
          </a:p>
        </p:txBody>
      </p:sp>
      <p:pic>
        <p:nvPicPr>
          <p:cNvPr id="7" name="Picture 6">
            <a:extLst>
              <a:ext uri="{FF2B5EF4-FFF2-40B4-BE49-F238E27FC236}">
                <a16:creationId xmlns:a16="http://schemas.microsoft.com/office/drawing/2014/main" id="{C6E87CAD-DA09-42F8-F623-697B9F37F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81148"/>
            <a:ext cx="4128940" cy="5895703"/>
          </a:xfrm>
          <a:prstGeom prst="rect">
            <a:avLst/>
          </a:prstGeom>
        </p:spPr>
      </p:pic>
    </p:spTree>
    <p:extLst>
      <p:ext uri="{BB962C8B-B14F-4D97-AF65-F5344CB8AC3E}">
        <p14:creationId xmlns:p14="http://schemas.microsoft.com/office/powerpoint/2010/main" val="2511377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191495-3895-3F2C-34E2-383BBB09333B}"/>
              </a:ext>
            </a:extLst>
          </p:cNvPr>
          <p:cNvSpPr>
            <a:spLocks noGrp="1"/>
          </p:cNvSpPr>
          <p:nvPr>
            <p:ph idx="1"/>
          </p:nvPr>
        </p:nvSpPr>
        <p:spPr>
          <a:xfrm>
            <a:off x="838200" y="141402"/>
            <a:ext cx="10515600" cy="6035561"/>
          </a:xfrm>
        </p:spPr>
        <p:txBody>
          <a:bodyPr/>
          <a:lstStyle/>
          <a:p>
            <a:pPr marL="0" indent="0">
              <a:buNone/>
            </a:pPr>
            <a:r>
              <a:rPr lang="en-IN" dirty="0"/>
              <a:t>Analysis</a:t>
            </a:r>
          </a:p>
          <a:p>
            <a:pPr>
              <a:buNone/>
            </a:pPr>
            <a:r>
              <a:rPr lang="en-US" sz="1400" dirty="0"/>
              <a:t>In our analysis of the Zomato dataset, we encountered two tables, each containing essential information about restaurants. The dataset consists of 20 attributes, with 16 of them being categorical, such as cuisine types, restaurant names, and locations.</a:t>
            </a:r>
          </a:p>
          <a:p>
            <a:pPr>
              <a:buNone/>
            </a:pPr>
            <a:r>
              <a:rPr lang="en-US" sz="1400" dirty="0"/>
              <a:t>While exploring the data, we noticed that some values were missing in the </a:t>
            </a:r>
            <a:r>
              <a:rPr lang="en-US" sz="1400" i="1" dirty="0"/>
              <a:t>cuisines</a:t>
            </a:r>
            <a:r>
              <a:rPr lang="en-US" sz="1400" dirty="0"/>
              <a:t> column. To ensure data completeness, we addressed this issue by filling in the missing values using the </a:t>
            </a:r>
            <a:r>
              <a:rPr lang="en-US" sz="1400" i="1" dirty="0"/>
              <a:t>mode</a:t>
            </a:r>
            <a:r>
              <a:rPr lang="en-US" sz="1400" dirty="0"/>
              <a:t> (the most frequently occurring cuisine in the dataset). This approach helps maintain consistency while preserving the overall distribution of cuisines.</a:t>
            </a:r>
          </a:p>
          <a:p>
            <a:pPr>
              <a:buNone/>
            </a:pPr>
            <a:r>
              <a:rPr lang="en-US" sz="1400" dirty="0"/>
              <a:t>Additionally, one of the key enhancements we made involved filling in the </a:t>
            </a:r>
            <a:r>
              <a:rPr lang="en-US" sz="1400" i="1" dirty="0"/>
              <a:t>country</a:t>
            </a:r>
            <a:r>
              <a:rPr lang="en-US" sz="1400" dirty="0"/>
              <a:t> information in Table 1. Since Table 2 contained the country details linked to a unique identifier, we efficiently mapped the country names using the </a:t>
            </a:r>
            <a:r>
              <a:rPr lang="en-US" sz="1400" b="1" dirty="0"/>
              <a:t>VLOOKUP</a:t>
            </a:r>
            <a:r>
              <a:rPr lang="en-US" sz="1400" dirty="0"/>
              <a:t> function in Excel. By referencing the corresponding country codes in Table 2, we ensured that every entry in Table 1 had the correct country information, making our dataset more structured and ready for further analysis.</a:t>
            </a:r>
          </a:p>
          <a:p>
            <a:r>
              <a:rPr lang="en-US" sz="1400" dirty="0"/>
              <a:t>With these data cleaning and enrichment steps completed, the dataset is now more reliable, setting the stage for deeper insights into global restaurant trends, competition, and market opportunities.</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pPr marL="0" indent="0">
              <a:buNone/>
            </a:pPr>
            <a:endParaRPr lang="en-IN" sz="1800" dirty="0"/>
          </a:p>
        </p:txBody>
      </p:sp>
      <p:pic>
        <p:nvPicPr>
          <p:cNvPr id="4" name="Picture 3">
            <a:extLst>
              <a:ext uri="{FF2B5EF4-FFF2-40B4-BE49-F238E27FC236}">
                <a16:creationId xmlns:a16="http://schemas.microsoft.com/office/drawing/2014/main" id="{B3FB9039-0FEB-05E5-8E29-F096CAB674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7715" y="3429001"/>
            <a:ext cx="10171522" cy="3162740"/>
          </a:xfrm>
          <a:prstGeom prst="rect">
            <a:avLst/>
          </a:prstGeom>
        </p:spPr>
      </p:pic>
    </p:spTree>
    <p:extLst>
      <p:ext uri="{BB962C8B-B14F-4D97-AF65-F5344CB8AC3E}">
        <p14:creationId xmlns:p14="http://schemas.microsoft.com/office/powerpoint/2010/main" val="336651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
            <a:extLst>
              <a:ext uri="{FF2B5EF4-FFF2-40B4-BE49-F238E27FC236}">
                <a16:creationId xmlns:a16="http://schemas.microsoft.com/office/drawing/2014/main" id="{30B39DDB-BF7B-A38E-4B22-2ABA44A0A025}"/>
              </a:ext>
            </a:extLst>
          </p:cNvPr>
          <p:cNvSpPr>
            <a:spLocks noGrp="1" noChangeArrowheads="1"/>
          </p:cNvSpPr>
          <p:nvPr>
            <p:ph type="title"/>
          </p:nvPr>
        </p:nvSpPr>
        <p:spPr bwMode="auto">
          <a:xfrm>
            <a:off x="6381750" y="365125"/>
            <a:ext cx="4972050" cy="638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Australia</a:t>
            </a:r>
            <a:r>
              <a:rPr kumimoji="0" lang="en-US" altLang="en-US" sz="1800" b="0" i="0" u="none" strike="noStrike" cap="none" normalizeH="0" baseline="0" dirty="0">
                <a:ln>
                  <a:noFill/>
                </a:ln>
                <a:solidFill>
                  <a:schemeClr val="tx1"/>
                </a:solidFill>
                <a:effectLst/>
                <a:latin typeface="Arial" panose="020B0604020202020204" pitchFamily="34" charset="0"/>
              </a:rPr>
              <a:t>: 24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Brazil</a:t>
            </a:r>
            <a:r>
              <a:rPr kumimoji="0" lang="en-US" altLang="en-US" sz="1800" b="0" i="0" u="none" strike="noStrike" cap="none" normalizeH="0" baseline="0" dirty="0">
                <a:ln>
                  <a:noFill/>
                </a:ln>
                <a:solidFill>
                  <a:schemeClr val="tx1"/>
                </a:solidFill>
                <a:effectLst/>
                <a:latin typeface="Arial" panose="020B0604020202020204" pitchFamily="34" charset="0"/>
              </a:rPr>
              <a:t>: 60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Canada</a:t>
            </a:r>
            <a:r>
              <a:rPr kumimoji="0" lang="en-US" altLang="en-US" sz="1800" b="0" i="0" u="none" strike="noStrike" cap="none" normalizeH="0" baseline="0" dirty="0">
                <a:ln>
                  <a:noFill/>
                </a:ln>
                <a:solidFill>
                  <a:schemeClr val="tx1"/>
                </a:solidFill>
                <a:effectLst/>
                <a:latin typeface="Arial" panose="020B0604020202020204" pitchFamily="34" charset="0"/>
              </a:rPr>
              <a:t>: 4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India</a:t>
            </a:r>
            <a:r>
              <a:rPr kumimoji="0" lang="en-US" altLang="en-US" sz="1800" b="0" i="0" u="none" strike="noStrike" cap="none" normalizeH="0" baseline="0" dirty="0">
                <a:ln>
                  <a:noFill/>
                </a:ln>
                <a:solidFill>
                  <a:schemeClr val="tx1"/>
                </a:solidFill>
                <a:effectLst/>
                <a:latin typeface="Arial" panose="020B0604020202020204" pitchFamily="34" charset="0"/>
              </a:rPr>
              <a:t>: 8652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Indonesia</a:t>
            </a:r>
            <a:r>
              <a:rPr kumimoji="0" lang="en-US" altLang="en-US" sz="1800" b="0" i="0" u="none" strike="noStrike" cap="none" normalizeH="0" baseline="0" dirty="0">
                <a:ln>
                  <a:noFill/>
                </a:ln>
                <a:solidFill>
                  <a:schemeClr val="tx1"/>
                </a:solidFill>
                <a:effectLst/>
                <a:latin typeface="Arial" panose="020B0604020202020204" pitchFamily="34" charset="0"/>
              </a:rPr>
              <a:t>: 21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New Zealand</a:t>
            </a:r>
            <a:r>
              <a:rPr kumimoji="0" lang="en-US" altLang="en-US" sz="1800" b="0" i="0" u="none" strike="noStrike" cap="none" normalizeH="0" baseline="0" dirty="0">
                <a:ln>
                  <a:noFill/>
                </a:ln>
                <a:solidFill>
                  <a:schemeClr val="tx1"/>
                </a:solidFill>
                <a:effectLst/>
                <a:latin typeface="Arial" panose="020B0604020202020204" pitchFamily="34" charset="0"/>
              </a:rPr>
              <a:t>: 40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Philippines</a:t>
            </a:r>
            <a:r>
              <a:rPr kumimoji="0" lang="en-US" altLang="en-US" sz="1800" b="0" i="0" u="none" strike="noStrike" cap="none" normalizeH="0" baseline="0" dirty="0">
                <a:ln>
                  <a:noFill/>
                </a:ln>
                <a:solidFill>
                  <a:schemeClr val="tx1"/>
                </a:solidFill>
                <a:effectLst/>
                <a:latin typeface="Arial" panose="020B0604020202020204" pitchFamily="34" charset="0"/>
              </a:rPr>
              <a:t>: 22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Qatar</a:t>
            </a:r>
            <a:r>
              <a:rPr kumimoji="0" lang="en-US" altLang="en-US" sz="1800" b="0" i="0" u="none" strike="noStrike" cap="none" normalizeH="0" baseline="0" dirty="0">
                <a:ln>
                  <a:noFill/>
                </a:ln>
                <a:solidFill>
                  <a:schemeClr val="tx1"/>
                </a:solidFill>
                <a:effectLst/>
                <a:latin typeface="Arial" panose="020B0604020202020204" pitchFamily="34" charset="0"/>
              </a:rPr>
              <a:t>: 20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Singapore</a:t>
            </a:r>
            <a:r>
              <a:rPr kumimoji="0" lang="en-US" altLang="en-US" sz="1800" b="0" i="0" u="none" strike="noStrike" cap="none" normalizeH="0" baseline="0" dirty="0">
                <a:ln>
                  <a:noFill/>
                </a:ln>
                <a:solidFill>
                  <a:schemeClr val="tx1"/>
                </a:solidFill>
                <a:effectLst/>
                <a:latin typeface="Arial" panose="020B0604020202020204" pitchFamily="34" charset="0"/>
              </a:rPr>
              <a:t>: 20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South Africa</a:t>
            </a:r>
            <a:r>
              <a:rPr kumimoji="0" lang="en-US" altLang="en-US" sz="1800" b="0" i="0" u="none" strike="noStrike" cap="none" normalizeH="0" baseline="0" dirty="0">
                <a:ln>
                  <a:noFill/>
                </a:ln>
                <a:solidFill>
                  <a:schemeClr val="tx1"/>
                </a:solidFill>
                <a:effectLst/>
                <a:latin typeface="Arial" panose="020B0604020202020204" pitchFamily="34" charset="0"/>
              </a:rPr>
              <a:t>: 60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Sri Lanka</a:t>
            </a:r>
            <a:r>
              <a:rPr kumimoji="0" lang="en-US" altLang="en-US" sz="1800" b="0" i="0" u="none" strike="noStrike" cap="none" normalizeH="0" baseline="0" dirty="0">
                <a:ln>
                  <a:noFill/>
                </a:ln>
                <a:solidFill>
                  <a:schemeClr val="tx1"/>
                </a:solidFill>
                <a:effectLst/>
                <a:latin typeface="Arial" panose="020B0604020202020204" pitchFamily="34" charset="0"/>
              </a:rPr>
              <a:t>: 20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Turkey</a:t>
            </a:r>
            <a:r>
              <a:rPr kumimoji="0" lang="en-US" altLang="en-US" sz="1800" b="0" i="0" u="none" strike="noStrike" cap="none" normalizeH="0" baseline="0" dirty="0">
                <a:ln>
                  <a:noFill/>
                </a:ln>
                <a:solidFill>
                  <a:schemeClr val="tx1"/>
                </a:solidFill>
                <a:effectLst/>
                <a:latin typeface="Arial" panose="020B0604020202020204" pitchFamily="34" charset="0"/>
              </a:rPr>
              <a:t>: 34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United Arab Emirates</a:t>
            </a:r>
            <a:r>
              <a:rPr kumimoji="0" lang="en-US" altLang="en-US" sz="1800" b="0" i="0" u="none" strike="noStrike" cap="none" normalizeH="0" baseline="0" dirty="0">
                <a:ln>
                  <a:noFill/>
                </a:ln>
                <a:solidFill>
                  <a:schemeClr val="tx1"/>
                </a:solidFill>
                <a:effectLst/>
                <a:latin typeface="Arial" panose="020B0604020202020204" pitchFamily="34" charset="0"/>
              </a:rPr>
              <a:t>: 60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United Kingdom</a:t>
            </a:r>
            <a:r>
              <a:rPr kumimoji="0" lang="en-US" altLang="en-US" sz="1800" b="0" i="0" u="none" strike="noStrike" cap="none" normalizeH="0" baseline="0" dirty="0">
                <a:ln>
                  <a:noFill/>
                </a:ln>
                <a:solidFill>
                  <a:schemeClr val="tx1"/>
                </a:solidFill>
                <a:effectLst/>
                <a:latin typeface="Arial" panose="020B0604020202020204" pitchFamily="34" charset="0"/>
              </a:rPr>
              <a:t>: 80 restaurants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United States of America</a:t>
            </a:r>
            <a:r>
              <a:rPr kumimoji="0" lang="en-US" altLang="en-US" sz="1800" b="0" i="0" u="none" strike="noStrike" cap="none" normalizeH="0" baseline="0" dirty="0">
                <a:ln>
                  <a:noFill/>
                </a:ln>
                <a:solidFill>
                  <a:schemeClr val="tx1"/>
                </a:solidFill>
                <a:effectLst/>
                <a:latin typeface="Arial" panose="020B0604020202020204" pitchFamily="34" charset="0"/>
              </a:rPr>
              <a:t>: 434 restaurants </a:t>
            </a:r>
          </a:p>
        </p:txBody>
      </p:sp>
      <p:sp>
        <p:nvSpPr>
          <p:cNvPr id="3" name="Rectangle 2">
            <a:extLst>
              <a:ext uri="{FF2B5EF4-FFF2-40B4-BE49-F238E27FC236}">
                <a16:creationId xmlns:a16="http://schemas.microsoft.com/office/drawing/2014/main" id="{4EBBBA9E-25FA-0EA7-92A8-7AF2EED51200}"/>
              </a:ext>
            </a:extLst>
          </p:cNvPr>
          <p:cNvSpPr/>
          <p:nvPr/>
        </p:nvSpPr>
        <p:spPr>
          <a:xfrm>
            <a:off x="1329179" y="273377"/>
            <a:ext cx="10024621" cy="8012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3200" b="1" dirty="0"/>
              <a:t>Country wise Number of Restaurant</a:t>
            </a:r>
          </a:p>
        </p:txBody>
      </p:sp>
      <p:pic>
        <p:nvPicPr>
          <p:cNvPr id="6" name="Content Placeholder 5">
            <a:extLst>
              <a:ext uri="{FF2B5EF4-FFF2-40B4-BE49-F238E27FC236}">
                <a16:creationId xmlns:a16="http://schemas.microsoft.com/office/drawing/2014/main" id="{DA02AD02-2F42-A749-218B-A96B104C89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76313"/>
            <a:ext cx="5257800" cy="4167848"/>
          </a:xfrm>
        </p:spPr>
      </p:pic>
    </p:spTree>
    <p:extLst>
      <p:ext uri="{BB962C8B-B14F-4D97-AF65-F5344CB8AC3E}">
        <p14:creationId xmlns:p14="http://schemas.microsoft.com/office/powerpoint/2010/main" val="508835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520ED5-7F52-EA6A-315E-62B25492766B}"/>
              </a:ext>
            </a:extLst>
          </p:cNvPr>
          <p:cNvSpPr>
            <a:spLocks noGrp="1"/>
          </p:cNvSpPr>
          <p:nvPr>
            <p:ph type="title"/>
          </p:nvPr>
        </p:nvSpPr>
        <p:spPr>
          <a:xfrm>
            <a:off x="6014300" y="365125"/>
            <a:ext cx="5339499" cy="6492875"/>
          </a:xfrm>
        </p:spPr>
        <p:txBody>
          <a:bodyPr>
            <a:normAutofit/>
          </a:bodyPr>
          <a:lstStyle/>
          <a:p>
            <a:pPr>
              <a:buNone/>
            </a:pPr>
            <a:r>
              <a:rPr lang="en-US" sz="1800" dirty="0"/>
              <a:t>Over the years, the restaurant industry has seen consistent growth, with new establishments opening steadily each year. The data reveals a dynamic expansion pattern from </a:t>
            </a:r>
            <a:r>
              <a:rPr lang="en-US" sz="1800" b="1" dirty="0"/>
              <a:t>2010 to 2018</a:t>
            </a:r>
            <a:r>
              <a:rPr lang="en-US" sz="1800" dirty="0"/>
              <a:t>, showcasing resilience and adaptability in the food business.</a:t>
            </a:r>
            <a:br>
              <a:rPr lang="en-US" sz="1800" dirty="0"/>
            </a:br>
            <a:r>
              <a:rPr lang="en-US" sz="1800" dirty="0"/>
              <a:t>The </a:t>
            </a:r>
            <a:r>
              <a:rPr lang="en-US" sz="1800" b="1" dirty="0"/>
              <a:t>year 2018</a:t>
            </a:r>
            <a:r>
              <a:rPr lang="en-US" sz="1800" dirty="0"/>
              <a:t> recorded the highest number of new restaurant openings at </a:t>
            </a:r>
            <a:r>
              <a:rPr lang="en-US" sz="1800" b="1" dirty="0"/>
              <a:t>1,102</a:t>
            </a:r>
            <a:r>
              <a:rPr lang="en-US" sz="1800" dirty="0"/>
              <a:t>, signaling a peak in the decade. Prior to this, </a:t>
            </a:r>
            <a:r>
              <a:rPr lang="en-US" sz="1800" b="1" dirty="0"/>
              <a:t>2011</a:t>
            </a:r>
            <a:r>
              <a:rPr lang="en-US" sz="1800" dirty="0"/>
              <a:t> also saw a strong surge with </a:t>
            </a:r>
            <a:r>
              <a:rPr lang="en-US" sz="1800" b="1" dirty="0"/>
              <a:t>1,098</a:t>
            </a:r>
            <a:r>
              <a:rPr lang="en-US" sz="1800" dirty="0"/>
              <a:t> restaurants. Notably, </a:t>
            </a:r>
            <a:r>
              <a:rPr lang="en-US" sz="1800" b="1" dirty="0"/>
              <a:t>2010</a:t>
            </a:r>
            <a:r>
              <a:rPr lang="en-US" sz="1800" dirty="0"/>
              <a:t> and </a:t>
            </a:r>
            <a:r>
              <a:rPr lang="en-US" sz="1800" b="1" dirty="0"/>
              <a:t>2017</a:t>
            </a:r>
            <a:r>
              <a:rPr lang="en-US" sz="1800" dirty="0"/>
              <a:t> followed closely behind with </a:t>
            </a:r>
            <a:r>
              <a:rPr lang="en-US" sz="1800" b="1" dirty="0"/>
              <a:t>1,080 and 1,086</a:t>
            </a:r>
            <a:r>
              <a:rPr lang="en-US" sz="1800" dirty="0"/>
              <a:t> openings, respectively.</a:t>
            </a:r>
            <a:br>
              <a:rPr lang="en-US" sz="1800" dirty="0"/>
            </a:br>
            <a:r>
              <a:rPr lang="en-US" sz="1800" dirty="0"/>
              <a:t>While there were minor fluctuations, the trend remained stable, with new openings averaging around </a:t>
            </a:r>
            <a:r>
              <a:rPr lang="en-US" sz="1800" b="1" dirty="0"/>
              <a:t>1,020–1,100</a:t>
            </a:r>
            <a:r>
              <a:rPr lang="en-US" sz="1800" dirty="0"/>
              <a:t> annually. The lowest recorded year was </a:t>
            </a:r>
            <a:r>
              <a:rPr lang="en-US" sz="1800" b="1" dirty="0"/>
              <a:t>2012</a:t>
            </a:r>
            <a:r>
              <a:rPr lang="en-US" sz="1800" dirty="0"/>
              <a:t>, with </a:t>
            </a:r>
            <a:r>
              <a:rPr lang="en-US" sz="1800" b="1" dirty="0"/>
              <a:t>1,022 restaurants</a:t>
            </a:r>
            <a:r>
              <a:rPr lang="en-US" sz="1800" dirty="0"/>
              <a:t>, but the industry quickly rebounded, maintaining a steady pace.</a:t>
            </a:r>
            <a:br>
              <a:rPr lang="en-US" sz="1800" dirty="0"/>
            </a:br>
            <a:r>
              <a:rPr lang="en-US" sz="1800" dirty="0"/>
              <a:t>This data underscores the robustness of the restaurant industry, highlighting consistent investment and expansion efforts despite economic shifts. The steady influx of new restaurants each year reflects ongoing demand, evolving culinary trends, and the ever-growing consumer appetite for dining experiences</a:t>
            </a:r>
            <a:r>
              <a:rPr lang="en-US" sz="900" dirty="0"/>
              <a:t>.</a:t>
            </a:r>
          </a:p>
        </p:txBody>
      </p:sp>
      <p:sp>
        <p:nvSpPr>
          <p:cNvPr id="2" name="Rectangle 1">
            <a:extLst>
              <a:ext uri="{FF2B5EF4-FFF2-40B4-BE49-F238E27FC236}">
                <a16:creationId xmlns:a16="http://schemas.microsoft.com/office/drawing/2014/main" id="{5DCA80D0-A373-B0E4-48CB-886947283D49}"/>
              </a:ext>
            </a:extLst>
          </p:cNvPr>
          <p:cNvSpPr/>
          <p:nvPr/>
        </p:nvSpPr>
        <p:spPr>
          <a:xfrm>
            <a:off x="1461155" y="131975"/>
            <a:ext cx="9417377" cy="6881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t>Year Wise Number of Restaurant</a:t>
            </a:r>
          </a:p>
        </p:txBody>
      </p:sp>
      <p:pic>
        <p:nvPicPr>
          <p:cNvPr id="8" name="Content Placeholder 7">
            <a:extLst>
              <a:ext uri="{FF2B5EF4-FFF2-40B4-BE49-F238E27FC236}">
                <a16:creationId xmlns:a16="http://schemas.microsoft.com/office/drawing/2014/main" id="{2B60D767-449A-C3A3-7004-89AD9A8777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4405" y="1234912"/>
            <a:ext cx="5201376" cy="4487158"/>
          </a:xfrm>
        </p:spPr>
      </p:pic>
    </p:spTree>
    <p:extLst>
      <p:ext uri="{BB962C8B-B14F-4D97-AF65-F5344CB8AC3E}">
        <p14:creationId xmlns:p14="http://schemas.microsoft.com/office/powerpoint/2010/main" val="3083753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D3BF8-6784-EB66-F3F7-65FBAC4501FB}"/>
              </a:ext>
            </a:extLst>
          </p:cNvPr>
          <p:cNvSpPr>
            <a:spLocks noGrp="1"/>
          </p:cNvSpPr>
          <p:nvPr>
            <p:ph idx="1"/>
          </p:nvPr>
        </p:nvSpPr>
        <p:spPr>
          <a:xfrm>
            <a:off x="6096000" y="886121"/>
            <a:ext cx="5257800" cy="5971879"/>
          </a:xfrm>
        </p:spPr>
        <p:txBody>
          <a:bodyPr>
            <a:normAutofit/>
          </a:bodyPr>
          <a:lstStyle/>
          <a:p>
            <a:r>
              <a:rPr lang="en-US" sz="2400" dirty="0"/>
              <a:t>India has </a:t>
            </a:r>
            <a:r>
              <a:rPr lang="en-US" sz="2400" b="1" dirty="0"/>
              <a:t>388 restaurants</a:t>
            </a:r>
            <a:r>
              <a:rPr lang="en-US" sz="2400" dirty="0"/>
              <a:t> in the highest price range of </a:t>
            </a:r>
            <a:r>
              <a:rPr lang="en-US" sz="2400" b="1" dirty="0"/>
              <a:t>4</a:t>
            </a:r>
            <a:r>
              <a:rPr lang="en-US" sz="2400" dirty="0"/>
              <a:t>, reflecting a strong premium dining market. The </a:t>
            </a:r>
            <a:r>
              <a:rPr lang="en-US" sz="2400" b="1" dirty="0"/>
              <a:t>average number of votes per restaurant</a:t>
            </a:r>
            <a:r>
              <a:rPr lang="en-US" sz="2400" dirty="0"/>
              <a:t> varies across countries, with </a:t>
            </a:r>
            <a:r>
              <a:rPr lang="en-US" sz="2400" b="1" dirty="0"/>
              <a:t>Indonesia (772.10), UAE (493.52), Turkey (431.47), and the U.S. (428.22)</a:t>
            </a:r>
            <a:r>
              <a:rPr lang="en-US" sz="2400" dirty="0"/>
              <a:t> leading in customer engagement. India also shows high interaction with </a:t>
            </a:r>
            <a:r>
              <a:rPr lang="en-US" sz="2400" b="1" dirty="0"/>
              <a:t>137.21 votes per restaurant</a:t>
            </a:r>
            <a:r>
              <a:rPr lang="en-US" sz="2400" dirty="0"/>
              <a:t>. In contrast, </a:t>
            </a:r>
            <a:r>
              <a:rPr lang="en-US" sz="2400" b="1" dirty="0"/>
              <a:t>Brazil (19.62) and Singapore (31.90)</a:t>
            </a:r>
            <a:r>
              <a:rPr lang="en-US" sz="2400" dirty="0"/>
              <a:t> have the lowest engagement. High-vote regions indicate strong digital review culture, while low-vote markets may need strategies to boost online presence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600" dirty="0"/>
          </a:p>
        </p:txBody>
      </p:sp>
      <p:sp>
        <p:nvSpPr>
          <p:cNvPr id="2" name="Rectangle 1">
            <a:extLst>
              <a:ext uri="{FF2B5EF4-FFF2-40B4-BE49-F238E27FC236}">
                <a16:creationId xmlns:a16="http://schemas.microsoft.com/office/drawing/2014/main" id="{70B21272-7E75-1321-F73C-3C876842CC7D}"/>
              </a:ext>
            </a:extLst>
          </p:cNvPr>
          <p:cNvSpPr/>
          <p:nvPr/>
        </p:nvSpPr>
        <p:spPr>
          <a:xfrm>
            <a:off x="1018095" y="75414"/>
            <a:ext cx="10180948" cy="67873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t>Country Wise Average Voting</a:t>
            </a:r>
          </a:p>
        </p:txBody>
      </p:sp>
      <p:pic>
        <p:nvPicPr>
          <p:cNvPr id="6" name="Picture 5">
            <a:extLst>
              <a:ext uri="{FF2B5EF4-FFF2-40B4-BE49-F238E27FC236}">
                <a16:creationId xmlns:a16="http://schemas.microsoft.com/office/drawing/2014/main" id="{5BFD33F4-44C9-71CB-10AD-BD3E0BF0F2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095" y="1112363"/>
            <a:ext cx="4944165" cy="4826524"/>
          </a:xfrm>
          <a:prstGeom prst="rect">
            <a:avLst/>
          </a:prstGeom>
        </p:spPr>
      </p:pic>
    </p:spTree>
    <p:extLst>
      <p:ext uri="{BB962C8B-B14F-4D97-AF65-F5344CB8AC3E}">
        <p14:creationId xmlns:p14="http://schemas.microsoft.com/office/powerpoint/2010/main" val="1069296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3D4E3A9-46FD-A0F3-1864-AB9D141E4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1228418"/>
            <a:ext cx="9936637" cy="4401164"/>
          </a:xfrm>
          <a:prstGeom prst="rect">
            <a:avLst/>
          </a:prstGeom>
        </p:spPr>
      </p:pic>
      <p:sp>
        <p:nvSpPr>
          <p:cNvPr id="3" name="Rectangle 2">
            <a:extLst>
              <a:ext uri="{FF2B5EF4-FFF2-40B4-BE49-F238E27FC236}">
                <a16:creationId xmlns:a16="http://schemas.microsoft.com/office/drawing/2014/main" id="{248F2EB7-CC9B-648B-D3F8-717C91CD990D}"/>
              </a:ext>
            </a:extLst>
          </p:cNvPr>
          <p:cNvSpPr/>
          <p:nvPr/>
        </p:nvSpPr>
        <p:spPr>
          <a:xfrm>
            <a:off x="980388" y="235670"/>
            <a:ext cx="9794448" cy="71643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t>Countries For Opening New Restaurant</a:t>
            </a:r>
          </a:p>
        </p:txBody>
      </p:sp>
    </p:spTree>
    <p:extLst>
      <p:ext uri="{BB962C8B-B14F-4D97-AF65-F5344CB8AC3E}">
        <p14:creationId xmlns:p14="http://schemas.microsoft.com/office/powerpoint/2010/main" val="2362884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55A552-DDEF-4873-56D0-E0CD4E137B54}"/>
              </a:ext>
            </a:extLst>
          </p:cNvPr>
          <p:cNvSpPr>
            <a:spLocks noGrp="1"/>
          </p:cNvSpPr>
          <p:nvPr>
            <p:ph idx="1"/>
          </p:nvPr>
        </p:nvSpPr>
        <p:spPr>
          <a:xfrm>
            <a:off x="838200" y="150829"/>
            <a:ext cx="10515600" cy="6026134"/>
          </a:xfrm>
        </p:spPr>
        <p:txBody>
          <a:bodyPr>
            <a:normAutofit fontScale="92500" lnSpcReduction="10000"/>
          </a:bodyPr>
          <a:lstStyle/>
          <a:p>
            <a:pPr marL="342900" lvl="0" indent="-342900">
              <a:lnSpc>
                <a:spcPct val="107000"/>
              </a:lnSpc>
              <a:spcAft>
                <a:spcPts val="800"/>
              </a:spcAft>
              <a:buFont typeface="+mj-lt"/>
              <a:buAutoNum type="arabicPeriod"/>
              <a:tabLst>
                <a:tab pos="4572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Indonesia: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Average Cost for Two: ₹1,405.95 — Moderate pricing.</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Average Rating: 4.29 — High customer satisfaction.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Number of Restaurants: 21 — Indicates lesser competition with promising customer interest.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Philippines: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Average Cost for Two: ₹10,187.23 — Higher costs but excellent ratings (4.47), suggesting a market for premium dining experiences.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Number of Restaurants: 22 — Moderate competition, ideal for high-end restaurants.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South Africa: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Average Cost for Two: ₹1,985.34 — Balanced cost with strong ratings (4.21).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Number of Restaurants: 60 — Competitive yet manageable market with strong customer satisfaction.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Sri Lanka: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Average Cost for Two: ₹712.50 — Lowest average cost, providing an opportunity for budget-friendly restaurants.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Average Rating: 3.87 — Decent customer satisfaction, indicating growth potential.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Turkey: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Average Cost for Two: ₹202.80 — Extremely affordable dining costs, attracting budget-conscious customers.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Average Rating: 4.3 — Strong customer approval.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Number of Restaurants: 34 — Lower competition, indicating significant market entry potential.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400" dirty="0"/>
          </a:p>
        </p:txBody>
      </p:sp>
    </p:spTree>
    <p:extLst>
      <p:ext uri="{BB962C8B-B14F-4D97-AF65-F5344CB8AC3E}">
        <p14:creationId xmlns:p14="http://schemas.microsoft.com/office/powerpoint/2010/main" val="3235063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DF79-A39C-EC74-EB0E-4AF07A35214C}"/>
              </a:ext>
            </a:extLst>
          </p:cNvPr>
          <p:cNvSpPr>
            <a:spLocks noGrp="1"/>
          </p:cNvSpPr>
          <p:nvPr>
            <p:ph type="title"/>
          </p:nvPr>
        </p:nvSpPr>
        <p:spPr>
          <a:xfrm>
            <a:off x="5740924" y="365125"/>
            <a:ext cx="5612876" cy="6271345"/>
          </a:xfrm>
        </p:spPr>
        <p:txBody>
          <a:bodyPr>
            <a:normAutofit/>
          </a:bodyPr>
          <a:lstStyle/>
          <a:p>
            <a:pPr marL="342900" lvl="0" indent="-342900">
              <a:lnSpc>
                <a:spcPct val="107000"/>
              </a:lnSpc>
              <a:spcAft>
                <a:spcPts val="800"/>
              </a:spcAft>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Indonesia</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Bandung</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(₹750, Rating: 4.2) – Affordable dining with strong customer feedback.</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Bogor</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(₹800, Rating: 3.85) – A budget-friendly market with room for growth.</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Tangerang</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(₹1,250, Rating: 4.3) – Balanced pricing with excellent customer satisfaction.</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Philippines</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Pasig City</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(₹5,917, Rating: 4.63) – A premium dining hub with remarkable reviews.</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Quezon City</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(₹5,072, Rating: 4.8) – Outstanding ratings suggest strong customer loyalty.</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South Africa</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Randburg</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(₹946, Rating: 4.3) – Affordable with impressive customer ratings.</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Sandton</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(₹1,778, Rating: 4.3) – Balanced pricing with high demand potential.</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Sri Lanka</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Colombo</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(₹712.50, Rating: 3.87) – Budget dining with emerging customer interest.</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Turkey</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Ankara</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(₹208.53, Rating: 4.3) – Extremely low dining costs with strong customer approval.</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Istanbul</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(₹194.61, Rating: 4.29) – Budget-friendly yet highly rated dining destination.</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200" dirty="0"/>
          </a:p>
        </p:txBody>
      </p:sp>
      <p:pic>
        <p:nvPicPr>
          <p:cNvPr id="5" name="Content Placeholder 4">
            <a:extLst>
              <a:ext uri="{FF2B5EF4-FFF2-40B4-BE49-F238E27FC236}">
                <a16:creationId xmlns:a16="http://schemas.microsoft.com/office/drawing/2014/main" id="{34EF9298-7A81-3861-0C50-414AF7E307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2914" y="1093509"/>
            <a:ext cx="5073168" cy="5467546"/>
          </a:xfrm>
        </p:spPr>
      </p:pic>
      <p:sp>
        <p:nvSpPr>
          <p:cNvPr id="3" name="Rectangle 2">
            <a:extLst>
              <a:ext uri="{FF2B5EF4-FFF2-40B4-BE49-F238E27FC236}">
                <a16:creationId xmlns:a16="http://schemas.microsoft.com/office/drawing/2014/main" id="{F58B18DC-27AF-6BE9-46D9-A980E0A17715}"/>
              </a:ext>
            </a:extLst>
          </p:cNvPr>
          <p:cNvSpPr/>
          <p:nvPr/>
        </p:nvSpPr>
        <p:spPr>
          <a:xfrm>
            <a:off x="820132" y="131975"/>
            <a:ext cx="10680569" cy="6975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t>Cities For Opening New Restaurant From Recommended Countries</a:t>
            </a:r>
          </a:p>
        </p:txBody>
      </p:sp>
    </p:spTree>
    <p:extLst>
      <p:ext uri="{BB962C8B-B14F-4D97-AF65-F5344CB8AC3E}">
        <p14:creationId xmlns:p14="http://schemas.microsoft.com/office/powerpoint/2010/main" val="4072109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5644-9E32-12FD-2975-B98BA20D0396}"/>
              </a:ext>
            </a:extLst>
          </p:cNvPr>
          <p:cNvSpPr>
            <a:spLocks noGrp="1"/>
          </p:cNvSpPr>
          <p:nvPr>
            <p:ph type="title"/>
          </p:nvPr>
        </p:nvSpPr>
        <p:spPr>
          <a:xfrm>
            <a:off x="6165130" y="365125"/>
            <a:ext cx="5188670" cy="6403320"/>
          </a:xfrm>
        </p:spPr>
        <p:txBody>
          <a:bodyPr>
            <a:normAutofit/>
          </a:bodyPr>
          <a:lstStyle/>
          <a:p>
            <a:pPr>
              <a:lnSpc>
                <a:spcPct val="107000"/>
              </a:lnSpc>
              <a:spcAft>
                <a:spcPts val="800"/>
              </a:spcAft>
            </a:pP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Key Countries for Expansion</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Turkey</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 </a:t>
            </a:r>
            <a:r>
              <a:rPr lang="en-US" sz="1200" i="1" kern="100" dirty="0">
                <a:effectLst/>
                <a:latin typeface="Calibri" panose="020F0502020204030204" pitchFamily="34" charset="0"/>
                <a:ea typeface="Calibri" panose="020F0502020204030204" pitchFamily="34" charset="0"/>
                <a:cs typeface="Times New Roman" panose="02020603050405020304" pitchFamily="18" charset="0"/>
              </a:rPr>
              <a:t>₹202.80 (Lowest Cost)</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With incredibly low dining costs, Turkey offers an ideal entry point for budget-friendly restaurants. This is a prime opportunity to tap into a price-conscious market with minimal investment.</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Sri Lanka</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 </a:t>
            </a:r>
            <a:r>
              <a:rPr lang="en-US" sz="1200" i="1" kern="100" dirty="0">
                <a:effectLst/>
                <a:latin typeface="Calibri" panose="020F0502020204030204" pitchFamily="34" charset="0"/>
                <a:ea typeface="Calibri" panose="020F0502020204030204" pitchFamily="34" charset="0"/>
                <a:cs typeface="Times New Roman" panose="02020603050405020304" pitchFamily="18" charset="0"/>
              </a:rPr>
              <a:t>₹712.50</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With affordable dining expenses and emerging customer demand, Sri Lanka is perfect for launching mid-range restaurants that cater to locals and tourists alike.</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Indonesia</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 </a:t>
            </a:r>
            <a:r>
              <a:rPr lang="en-US" sz="1200" i="1" kern="100" dirty="0">
                <a:effectLst/>
                <a:latin typeface="Calibri" panose="020F0502020204030204" pitchFamily="34" charset="0"/>
                <a:ea typeface="Calibri" panose="020F0502020204030204" pitchFamily="34" charset="0"/>
                <a:cs typeface="Times New Roman" panose="02020603050405020304" pitchFamily="18" charset="0"/>
              </a:rPr>
              <a:t>₹1,405.95</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Known for its rich food culture and growing dining scene, Indonesia offers a balanced mix of affordability and customer satisfaction, making it a stable investment choice.</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South Africa</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 </a:t>
            </a:r>
            <a:r>
              <a:rPr lang="en-US" sz="1200" i="1" kern="100" dirty="0">
                <a:effectLst/>
                <a:latin typeface="Calibri" panose="020F0502020204030204" pitchFamily="34" charset="0"/>
                <a:ea typeface="Calibri" panose="020F0502020204030204" pitchFamily="34" charset="0"/>
                <a:cs typeface="Times New Roman" panose="02020603050405020304" pitchFamily="18" charset="0"/>
              </a:rPr>
              <a:t>₹1,985.34</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With slightly higher costs but a strong demand for dining experiences, South Africa is ideal for restaurants aiming to deliver quality meals at moderate prices.</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Philippines</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 </a:t>
            </a:r>
            <a:r>
              <a:rPr lang="en-US" sz="1200" i="1" kern="100" dirty="0">
                <a:effectLst/>
                <a:latin typeface="Calibri" panose="020F0502020204030204" pitchFamily="34" charset="0"/>
                <a:ea typeface="Calibri" panose="020F0502020204030204" pitchFamily="34" charset="0"/>
                <a:cs typeface="Times New Roman" panose="02020603050405020304" pitchFamily="18" charset="0"/>
              </a:rPr>
              <a:t>₹10,187.23</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Despite higher costs, the Philippines presents an opportunity for premium dining experiences, catering to customers willing to pay more for quality food.</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200" dirty="0"/>
          </a:p>
        </p:txBody>
      </p:sp>
      <p:sp>
        <p:nvSpPr>
          <p:cNvPr id="3" name="Rectangle 2">
            <a:extLst>
              <a:ext uri="{FF2B5EF4-FFF2-40B4-BE49-F238E27FC236}">
                <a16:creationId xmlns:a16="http://schemas.microsoft.com/office/drawing/2014/main" id="{58BFE43C-F83A-F352-EFDB-8D8CCE8B74BE}"/>
              </a:ext>
            </a:extLst>
          </p:cNvPr>
          <p:cNvSpPr/>
          <p:nvPr/>
        </p:nvSpPr>
        <p:spPr>
          <a:xfrm>
            <a:off x="970961" y="122548"/>
            <a:ext cx="10382839" cy="7729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t>Country Wise Average Cost For Two </a:t>
            </a:r>
          </a:p>
        </p:txBody>
      </p:sp>
      <p:pic>
        <p:nvPicPr>
          <p:cNvPr id="8" name="Content Placeholder 7">
            <a:extLst>
              <a:ext uri="{FF2B5EF4-FFF2-40B4-BE49-F238E27FC236}">
                <a16:creationId xmlns:a16="http://schemas.microsoft.com/office/drawing/2014/main" id="{AF1F5AE7-3889-6310-050C-2B1D0B24F5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8940" y="1734532"/>
            <a:ext cx="5087060" cy="3525625"/>
          </a:xfrm>
        </p:spPr>
      </p:pic>
    </p:spTree>
    <p:extLst>
      <p:ext uri="{BB962C8B-B14F-4D97-AF65-F5344CB8AC3E}">
        <p14:creationId xmlns:p14="http://schemas.microsoft.com/office/powerpoint/2010/main" val="2147678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16EEA-F74B-52B7-A8DE-9626411E3201}"/>
              </a:ext>
            </a:extLst>
          </p:cNvPr>
          <p:cNvSpPr>
            <a:spLocks noGrp="1"/>
          </p:cNvSpPr>
          <p:nvPr>
            <p:ph type="title"/>
          </p:nvPr>
        </p:nvSpPr>
        <p:spPr>
          <a:xfrm>
            <a:off x="5623350" y="365125"/>
            <a:ext cx="5730450" cy="6356186"/>
          </a:xfrm>
        </p:spPr>
        <p:txBody>
          <a:bodyPr>
            <a:normAutofit/>
          </a:bodyPr>
          <a:lstStyle/>
          <a:p>
            <a:pPr>
              <a:lnSpc>
                <a:spcPct val="107000"/>
              </a:lnSpc>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Our data reveals crucial insights about how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online delivery</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table booking</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influence customer satisfaction.</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Segoe UI Emoji" panose="020B0502040204020203" pitchFamily="34" charset="0"/>
                <a:ea typeface="Calibri" panose="020F0502020204030204" pitchFamily="34" charset="0"/>
                <a:cs typeface="Segoe UI Emoji" panose="020B0502040204020203" pitchFamily="34" charset="0"/>
              </a:rPr>
              <a:t>📊</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 Key Findings</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Online Delivery Impact:</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With Delivery:</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3.29</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average rating (higher satisfaction)</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Without Delivery:</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2.75</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average rating</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Segoe UI Emoji" panose="020B0502040204020203" pitchFamily="34" charset="0"/>
                <a:ea typeface="Calibri" panose="020F0502020204030204" pitchFamily="34" charset="0"/>
                <a:cs typeface="Segoe UI Emoji" panose="020B0502040204020203" pitchFamily="34" charset="0"/>
              </a:rPr>
              <a:t>✅</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Conclusion:</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Restaurants offering delivery services receive higher ratings, indicating improved customer convenience and satisfaction.</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Table Booking Impact:</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With Table Booking:</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3.48</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average rating (significantly higher)</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Without Table Booking:</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2.81</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average rating</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Segoe UI Emoji" panose="020B0502040204020203" pitchFamily="34" charset="0"/>
                <a:ea typeface="Calibri" panose="020F0502020204030204" pitchFamily="34" charset="0"/>
                <a:cs typeface="Segoe UI Emoji" panose="020B0502040204020203" pitchFamily="34" charset="0"/>
              </a:rPr>
              <a:t>✅</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Conclusion:</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Restaurants with table booking options achieve higher customer satisfaction, suggesting smoother dining experiences and better service quality.</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Segoe UI Emoji" panose="020B0502040204020203" pitchFamily="34" charset="0"/>
                <a:ea typeface="Calibri" panose="020F0502020204030204" pitchFamily="34" charset="0"/>
                <a:cs typeface="Segoe UI Emoji" panose="020B0502040204020203" pitchFamily="34" charset="0"/>
              </a:rPr>
              <a:t>🔍</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 Key Insights for Growth Strategy</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Online Delivery Boosts Satisfaction:</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Implementing a reliable delivery system can cater to customers seeking convenience, driving better ratings.</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Table Booking Elevates Experience:</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Enabling reservations enhances customer comfort, reduces waiting times, and attracts groups or special-event diners.</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Combined Strategy for Maximum Impact:</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Restaurants that provide </a:t>
            </a:r>
            <a:r>
              <a:rPr lang="en-US" sz="1200" b="1" kern="100" dirty="0">
                <a:effectLst/>
                <a:latin typeface="Calibri" panose="020F0502020204030204" pitchFamily="34" charset="0"/>
                <a:ea typeface="Calibri" panose="020F0502020204030204" pitchFamily="34" charset="0"/>
                <a:cs typeface="Times New Roman" panose="02020603050405020304" pitchFamily="18" charset="0"/>
              </a:rPr>
              <a:t>both delivery and table booking</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are likely to see the highest customer satisfaction rates.</a:t>
            </a:r>
            <a:br>
              <a:rPr lang="en-IN" sz="11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400" dirty="0"/>
          </a:p>
        </p:txBody>
      </p:sp>
      <p:sp>
        <p:nvSpPr>
          <p:cNvPr id="3" name="Rectangle 2">
            <a:extLst>
              <a:ext uri="{FF2B5EF4-FFF2-40B4-BE49-F238E27FC236}">
                <a16:creationId xmlns:a16="http://schemas.microsoft.com/office/drawing/2014/main" id="{3E66A4D0-EC82-91DF-63AE-C07ED6BEAFA7}"/>
              </a:ext>
            </a:extLst>
          </p:cNvPr>
          <p:cNvSpPr/>
          <p:nvPr/>
        </p:nvSpPr>
        <p:spPr>
          <a:xfrm>
            <a:off x="989814" y="122548"/>
            <a:ext cx="9879291" cy="64102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t>Online Delivery And Table Booking With Average Cost For Two </a:t>
            </a:r>
          </a:p>
        </p:txBody>
      </p:sp>
      <p:pic>
        <p:nvPicPr>
          <p:cNvPr id="9" name="Content Placeholder 8">
            <a:extLst>
              <a:ext uri="{FF2B5EF4-FFF2-40B4-BE49-F238E27FC236}">
                <a16:creationId xmlns:a16="http://schemas.microsoft.com/office/drawing/2014/main" id="{43C818B4-3291-2740-23F3-9131C05716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712" y="1006149"/>
            <a:ext cx="5182323" cy="2670306"/>
          </a:xfrm>
        </p:spPr>
      </p:pic>
      <p:pic>
        <p:nvPicPr>
          <p:cNvPr id="11" name="Picture 10">
            <a:extLst>
              <a:ext uri="{FF2B5EF4-FFF2-40B4-BE49-F238E27FC236}">
                <a16:creationId xmlns:a16="http://schemas.microsoft.com/office/drawing/2014/main" id="{16DDFA94-8BAD-92DD-F453-DC5CFF5AF2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12" y="3815781"/>
            <a:ext cx="5125165" cy="2670306"/>
          </a:xfrm>
          <a:prstGeom prst="rect">
            <a:avLst/>
          </a:prstGeom>
        </p:spPr>
      </p:pic>
    </p:spTree>
    <p:extLst>
      <p:ext uri="{BB962C8B-B14F-4D97-AF65-F5344CB8AC3E}">
        <p14:creationId xmlns:p14="http://schemas.microsoft.com/office/powerpoint/2010/main" val="3250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7D28-D449-F0A1-25FC-38C840D5B1EA}"/>
              </a:ext>
            </a:extLst>
          </p:cNvPr>
          <p:cNvSpPr>
            <a:spLocks noGrp="1"/>
          </p:cNvSpPr>
          <p:nvPr>
            <p:ph type="title"/>
          </p:nvPr>
        </p:nvSpPr>
        <p:spPr>
          <a:xfrm>
            <a:off x="5400376" y="365125"/>
            <a:ext cx="5953423" cy="6327906"/>
          </a:xfrm>
        </p:spPr>
        <p:txBody>
          <a:bodyPr>
            <a:normAutofit/>
          </a:bodyPr>
          <a:lstStyle/>
          <a:p>
            <a:pPr>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Price Range Analysis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Price Range 1</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(Lowest Price) –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4,444 restaurants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Dominates the market, indicating strong demand for budget-friendly dining options.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Price Range 2</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(Moderate Pricing) –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3,113 restaurants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Popular among customers seeking quality meals at reasonable prices.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Price Range 3</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(Premium Dining) –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1,408 restaurants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 smaller yet significant segment catering to those willing to spend more for better quality and service.</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Price Range 4</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(High-End Dining) –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586 restaurants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Segoe UI Symbol" panose="020B0502040204020203" pitchFamily="34" charset="0"/>
                <a:ea typeface="Calibri" panose="020F0502020204030204" pitchFamily="34" charset="0"/>
                <a:cs typeface="Segoe UI Symbol" panose="020B0502040204020203" pitchFamily="34"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least competitive segment, presenting an opportunity for luxury dining concepts.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200" dirty="0"/>
          </a:p>
        </p:txBody>
      </p:sp>
      <p:sp>
        <p:nvSpPr>
          <p:cNvPr id="3" name="Rectangle 2">
            <a:extLst>
              <a:ext uri="{FF2B5EF4-FFF2-40B4-BE49-F238E27FC236}">
                <a16:creationId xmlns:a16="http://schemas.microsoft.com/office/drawing/2014/main" id="{70ED306D-CC26-1F03-C3F6-39E6BDEC6606}"/>
              </a:ext>
            </a:extLst>
          </p:cNvPr>
          <p:cNvSpPr/>
          <p:nvPr/>
        </p:nvSpPr>
        <p:spPr>
          <a:xfrm>
            <a:off x="848412" y="150829"/>
            <a:ext cx="10246936" cy="7729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t>Number Of Restaurant By Price Range</a:t>
            </a:r>
          </a:p>
        </p:txBody>
      </p:sp>
      <p:pic>
        <p:nvPicPr>
          <p:cNvPr id="8" name="Content Placeholder 7">
            <a:extLst>
              <a:ext uri="{FF2B5EF4-FFF2-40B4-BE49-F238E27FC236}">
                <a16:creationId xmlns:a16="http://schemas.microsoft.com/office/drawing/2014/main" id="{F101CCE7-007B-73FA-7CB5-D250686DCD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307" y="1536569"/>
            <a:ext cx="4791744" cy="3710335"/>
          </a:xfrm>
        </p:spPr>
      </p:pic>
    </p:spTree>
    <p:extLst>
      <p:ext uri="{BB962C8B-B14F-4D97-AF65-F5344CB8AC3E}">
        <p14:creationId xmlns:p14="http://schemas.microsoft.com/office/powerpoint/2010/main" val="2093525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1093A-4E57-EAAF-6F82-28ED92C8B5C5}"/>
              </a:ext>
            </a:extLst>
          </p:cNvPr>
          <p:cNvSpPr>
            <a:spLocks noGrp="1"/>
          </p:cNvSpPr>
          <p:nvPr>
            <p:ph idx="1"/>
          </p:nvPr>
        </p:nvSpPr>
        <p:spPr>
          <a:xfrm>
            <a:off x="3393648" y="94268"/>
            <a:ext cx="7960151" cy="6082695"/>
          </a:xfrm>
        </p:spPr>
        <p:txBody>
          <a:bodyPr>
            <a:normAutofit fontScale="47500" lnSpcReduction="20000"/>
          </a:bodyPr>
          <a:lstStyle/>
          <a:p>
            <a:pPr>
              <a:buNone/>
            </a:pPr>
            <a:r>
              <a:rPr lang="en-US" sz="2900" b="1" dirty="0"/>
              <a:t>Strategic Recommendations for Zomato Expansion</a:t>
            </a:r>
          </a:p>
          <a:p>
            <a:pPr>
              <a:buNone/>
            </a:pPr>
            <a:r>
              <a:rPr lang="en-US" b="1" dirty="0"/>
              <a:t>Target Markets for Expansion</a:t>
            </a:r>
          </a:p>
          <a:p>
            <a:pPr>
              <a:buFont typeface="Arial" panose="020B0604020202020204" pitchFamily="34" charset="0"/>
              <a:buChar char="•"/>
            </a:pPr>
            <a:r>
              <a:rPr lang="en-US" b="1" dirty="0"/>
              <a:t>Turkey</a:t>
            </a:r>
            <a:r>
              <a:rPr lang="en-US" dirty="0"/>
              <a:t> and </a:t>
            </a:r>
            <a:r>
              <a:rPr lang="en-US" b="1" dirty="0"/>
              <a:t>Sri Lanka</a:t>
            </a:r>
            <a:r>
              <a:rPr lang="en-US" dirty="0"/>
              <a:t>: Ideal for budget-friendly restaurants due to low average costs and manageable competition.</a:t>
            </a:r>
          </a:p>
          <a:p>
            <a:pPr>
              <a:buFont typeface="Arial" panose="020B0604020202020204" pitchFamily="34" charset="0"/>
              <a:buChar char="•"/>
            </a:pPr>
            <a:r>
              <a:rPr lang="en-US" b="1" dirty="0"/>
              <a:t>Indonesia</a:t>
            </a:r>
            <a:r>
              <a:rPr lang="en-US" dirty="0"/>
              <a:t> and </a:t>
            </a:r>
            <a:r>
              <a:rPr lang="en-US" b="1" dirty="0"/>
              <a:t>South Africa</a:t>
            </a:r>
            <a:r>
              <a:rPr lang="en-US" dirty="0"/>
              <a:t>: Balanced cost-to-rating ratios make them stable investment choices.</a:t>
            </a:r>
          </a:p>
          <a:p>
            <a:pPr>
              <a:buFont typeface="Arial" panose="020B0604020202020204" pitchFamily="34" charset="0"/>
              <a:buChar char="•"/>
            </a:pPr>
            <a:r>
              <a:rPr lang="en-US" b="1" dirty="0"/>
              <a:t>Philippines</a:t>
            </a:r>
            <a:r>
              <a:rPr lang="en-US" dirty="0"/>
              <a:t>: Suitable for premium dining due to higher costs and excellent ratings.</a:t>
            </a:r>
          </a:p>
          <a:p>
            <a:pPr>
              <a:buNone/>
            </a:pPr>
            <a:r>
              <a:rPr lang="en-US" b="1" dirty="0"/>
              <a:t>City Selection for Expansion</a:t>
            </a:r>
          </a:p>
          <a:p>
            <a:pPr>
              <a:buFont typeface="Arial" panose="020B0604020202020204" pitchFamily="34" charset="0"/>
              <a:buChar char="•"/>
            </a:pPr>
            <a:r>
              <a:rPr lang="en-US" b="1" dirty="0"/>
              <a:t>Budget-Friendly Cities</a:t>
            </a:r>
            <a:r>
              <a:rPr lang="en-US" dirty="0"/>
              <a:t>: </a:t>
            </a:r>
          </a:p>
          <a:p>
            <a:pPr marL="742950" lvl="1" indent="-285750">
              <a:buFont typeface="Arial" panose="020B0604020202020204" pitchFamily="34" charset="0"/>
              <a:buChar char="•"/>
            </a:pPr>
            <a:r>
              <a:rPr lang="en-US" i="1" dirty="0"/>
              <a:t>Ankara (Turkey)</a:t>
            </a:r>
            <a:r>
              <a:rPr lang="en-US" dirty="0"/>
              <a:t> and </a:t>
            </a:r>
            <a:r>
              <a:rPr lang="en-US" i="1" dirty="0"/>
              <a:t>Istanbul (Turkey)</a:t>
            </a:r>
            <a:r>
              <a:rPr lang="en-US" dirty="0"/>
              <a:t> — Affordable dining with strong customer approval.</a:t>
            </a:r>
          </a:p>
          <a:p>
            <a:pPr marL="742950" lvl="1" indent="-285750">
              <a:buFont typeface="Arial" panose="020B0604020202020204" pitchFamily="34" charset="0"/>
              <a:buChar char="•"/>
            </a:pPr>
            <a:r>
              <a:rPr lang="en-US" i="1" dirty="0"/>
              <a:t>Colombo (Sri Lanka)</a:t>
            </a:r>
            <a:r>
              <a:rPr lang="en-US" dirty="0"/>
              <a:t> — Emerging hotspot with decent ratings and low costs.</a:t>
            </a:r>
          </a:p>
          <a:p>
            <a:pPr>
              <a:buFont typeface="Arial" panose="020B0604020202020204" pitchFamily="34" charset="0"/>
              <a:buChar char="•"/>
            </a:pPr>
            <a:r>
              <a:rPr lang="en-US" b="1" dirty="0"/>
              <a:t>Premium Dining Cities</a:t>
            </a:r>
            <a:r>
              <a:rPr lang="en-US" dirty="0"/>
              <a:t>: </a:t>
            </a:r>
          </a:p>
          <a:p>
            <a:pPr marL="742950" lvl="1" indent="-285750">
              <a:buFont typeface="Arial" panose="020B0604020202020204" pitchFamily="34" charset="0"/>
              <a:buChar char="•"/>
            </a:pPr>
            <a:r>
              <a:rPr lang="en-US" i="1" dirty="0"/>
              <a:t>Pasig City (Philippines)</a:t>
            </a:r>
            <a:r>
              <a:rPr lang="en-US" dirty="0"/>
              <a:t> and </a:t>
            </a:r>
            <a:r>
              <a:rPr lang="en-US" i="1" dirty="0"/>
              <a:t>Quezon City (Philippines)</a:t>
            </a:r>
            <a:r>
              <a:rPr lang="en-US" dirty="0"/>
              <a:t> — Ideal for upscale restaurants with remarkable reviews.</a:t>
            </a:r>
          </a:p>
          <a:p>
            <a:pPr>
              <a:buNone/>
            </a:pPr>
            <a:r>
              <a:rPr lang="en-US" b="1" dirty="0"/>
              <a:t>Cuisine Recommendations</a:t>
            </a:r>
          </a:p>
          <a:p>
            <a:pPr>
              <a:buFont typeface="Arial" panose="020B0604020202020204" pitchFamily="34" charset="0"/>
              <a:buChar char="•"/>
            </a:pPr>
            <a:r>
              <a:rPr lang="en-US" dirty="0"/>
              <a:t>Focus on </a:t>
            </a:r>
            <a:r>
              <a:rPr lang="en-US" b="1" dirty="0"/>
              <a:t>Bar Food</a:t>
            </a:r>
            <a:r>
              <a:rPr lang="en-US" dirty="0"/>
              <a:t>, </a:t>
            </a:r>
            <a:r>
              <a:rPr lang="en-US" b="1" dirty="0"/>
              <a:t>European</a:t>
            </a:r>
            <a:r>
              <a:rPr lang="en-US" dirty="0"/>
              <a:t>, </a:t>
            </a:r>
            <a:r>
              <a:rPr lang="en-US" b="1" dirty="0"/>
              <a:t>Asian</a:t>
            </a:r>
            <a:r>
              <a:rPr lang="en-US" dirty="0"/>
              <a:t>, and </a:t>
            </a:r>
            <a:r>
              <a:rPr lang="en-US" b="1" dirty="0"/>
              <a:t>Sushi</a:t>
            </a:r>
            <a:r>
              <a:rPr lang="en-US" dirty="0"/>
              <a:t> to cater to diverse preferences.</a:t>
            </a:r>
          </a:p>
          <a:p>
            <a:pPr>
              <a:buFont typeface="Arial" panose="020B0604020202020204" pitchFamily="34" charset="0"/>
              <a:buChar char="•"/>
            </a:pPr>
            <a:r>
              <a:rPr lang="en-US" dirty="0"/>
              <a:t>Introduce </a:t>
            </a:r>
            <a:r>
              <a:rPr lang="en-US" b="1" dirty="0"/>
              <a:t>Indonesian Sunda Cuisine</a:t>
            </a:r>
            <a:r>
              <a:rPr lang="en-US" dirty="0"/>
              <a:t> in Indonesia for local authenticity.</a:t>
            </a:r>
          </a:p>
          <a:p>
            <a:pPr>
              <a:buNone/>
            </a:pPr>
            <a:r>
              <a:rPr lang="en-US" b="1" dirty="0"/>
              <a:t>Service Enhancements</a:t>
            </a:r>
          </a:p>
          <a:p>
            <a:pPr>
              <a:buFont typeface="Arial" panose="020B0604020202020204" pitchFamily="34" charset="0"/>
              <a:buChar char="•"/>
            </a:pPr>
            <a:r>
              <a:rPr lang="en-US" dirty="0"/>
              <a:t>Prioritize </a:t>
            </a:r>
            <a:r>
              <a:rPr lang="en-US" b="1" dirty="0"/>
              <a:t>Online Delivery</a:t>
            </a:r>
            <a:r>
              <a:rPr lang="en-US" dirty="0"/>
              <a:t> for broader customer reach and improved ratings.</a:t>
            </a:r>
          </a:p>
          <a:p>
            <a:pPr>
              <a:buFont typeface="Arial" panose="020B0604020202020204" pitchFamily="34" charset="0"/>
              <a:buChar char="•"/>
            </a:pPr>
            <a:r>
              <a:rPr lang="en-US" dirty="0"/>
              <a:t>Implement </a:t>
            </a:r>
            <a:r>
              <a:rPr lang="en-US" b="1" dirty="0"/>
              <a:t>Table Booking</a:t>
            </a:r>
            <a:r>
              <a:rPr lang="en-US" dirty="0"/>
              <a:t> to enhance dine-in experiences and increase satisfaction.</a:t>
            </a:r>
          </a:p>
          <a:p>
            <a:pPr>
              <a:buNone/>
            </a:pPr>
            <a:r>
              <a:rPr lang="en-US" b="1" dirty="0"/>
              <a:t>Pricing Strategy</a:t>
            </a:r>
          </a:p>
          <a:p>
            <a:pPr>
              <a:buFont typeface="Arial" panose="020B0604020202020204" pitchFamily="34" charset="0"/>
              <a:buChar char="•"/>
            </a:pPr>
            <a:r>
              <a:rPr lang="en-US" dirty="0"/>
              <a:t>Emphasize </a:t>
            </a:r>
            <a:r>
              <a:rPr lang="en-US" b="1" dirty="0"/>
              <a:t>Budget-Friendly Dining</a:t>
            </a:r>
            <a:r>
              <a:rPr lang="en-US" dirty="0"/>
              <a:t> in Turkey and Sri Lanka.</a:t>
            </a:r>
          </a:p>
          <a:p>
            <a:pPr>
              <a:buFont typeface="Arial" panose="020B0604020202020204" pitchFamily="34" charset="0"/>
              <a:buChar char="•"/>
            </a:pPr>
            <a:r>
              <a:rPr lang="en-US" dirty="0"/>
              <a:t>Introduce </a:t>
            </a:r>
            <a:r>
              <a:rPr lang="en-US" b="1" dirty="0"/>
              <a:t>Premium Dining Concepts</a:t>
            </a:r>
            <a:r>
              <a:rPr lang="en-US" dirty="0"/>
              <a:t> in key Philippine cities for upscale market penetration.</a:t>
            </a:r>
          </a:p>
          <a:p>
            <a:pPr>
              <a:buNone/>
            </a:pPr>
            <a:r>
              <a:rPr lang="en-US" b="1" dirty="0"/>
              <a:t>Competitive Strategy</a:t>
            </a:r>
          </a:p>
          <a:p>
            <a:pPr>
              <a:buFont typeface="Arial" panose="020B0604020202020204" pitchFamily="34" charset="0"/>
              <a:buChar char="•"/>
            </a:pPr>
            <a:r>
              <a:rPr lang="en-US" dirty="0"/>
              <a:t>Identify and monitor competitors in the selected countries and cities.</a:t>
            </a:r>
          </a:p>
          <a:p>
            <a:pPr>
              <a:buFont typeface="Arial" panose="020B0604020202020204" pitchFamily="34" charset="0"/>
              <a:buChar char="•"/>
            </a:pPr>
            <a:r>
              <a:rPr lang="en-US" dirty="0"/>
              <a:t>Focus on standout features like unique cuisines, improved customer service, and enhanced dining experiences.</a:t>
            </a:r>
          </a:p>
          <a:p>
            <a:endParaRPr lang="en-IN" dirty="0"/>
          </a:p>
        </p:txBody>
      </p:sp>
      <p:pic>
        <p:nvPicPr>
          <p:cNvPr id="5" name="Picture 4">
            <a:extLst>
              <a:ext uri="{FF2B5EF4-FFF2-40B4-BE49-F238E27FC236}">
                <a16:creationId xmlns:a16="http://schemas.microsoft.com/office/drawing/2014/main" id="{F28451DF-F494-9FF1-6E59-BD0986CAAF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1587"/>
            <a:ext cx="3318235" cy="4314825"/>
          </a:xfrm>
          <a:prstGeom prst="rect">
            <a:avLst/>
          </a:prstGeom>
        </p:spPr>
      </p:pic>
    </p:spTree>
    <p:extLst>
      <p:ext uri="{BB962C8B-B14F-4D97-AF65-F5344CB8AC3E}">
        <p14:creationId xmlns:p14="http://schemas.microsoft.com/office/powerpoint/2010/main" val="1010738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D3FC3DF-AB4C-268C-616A-AFDF95429E65}"/>
              </a:ext>
            </a:extLst>
          </p:cNvPr>
          <p:cNvSpPr/>
          <p:nvPr/>
        </p:nvSpPr>
        <p:spPr>
          <a:xfrm>
            <a:off x="0" y="254524"/>
            <a:ext cx="12192000" cy="7352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ln w="22225">
                  <a:solidFill>
                    <a:schemeClr val="accent2"/>
                  </a:solidFill>
                  <a:prstDash val="solid"/>
                </a:ln>
                <a:solidFill>
                  <a:schemeClr val="accent2">
                    <a:lumMod val="40000"/>
                    <a:lumOff val="60000"/>
                  </a:schemeClr>
                </a:solidFill>
              </a:rPr>
              <a:t>Dashboard</a:t>
            </a:r>
          </a:p>
        </p:txBody>
      </p:sp>
      <p:pic>
        <p:nvPicPr>
          <p:cNvPr id="4" name="Picture 3">
            <a:extLst>
              <a:ext uri="{FF2B5EF4-FFF2-40B4-BE49-F238E27FC236}">
                <a16:creationId xmlns:a16="http://schemas.microsoft.com/office/drawing/2014/main" id="{C1EC3FFC-E41A-9EB2-1D60-2F5C818AA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02" y="989814"/>
            <a:ext cx="11962614" cy="5524107"/>
          </a:xfrm>
          <a:prstGeom prst="rect">
            <a:avLst/>
          </a:prstGeom>
        </p:spPr>
      </p:pic>
    </p:spTree>
    <p:extLst>
      <p:ext uri="{BB962C8B-B14F-4D97-AF65-F5344CB8AC3E}">
        <p14:creationId xmlns:p14="http://schemas.microsoft.com/office/powerpoint/2010/main" val="3646221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F0AD42-EF1F-3463-300C-7EB1203988BD}"/>
              </a:ext>
            </a:extLst>
          </p:cNvPr>
          <p:cNvSpPr>
            <a:spLocks noGrp="1"/>
          </p:cNvSpPr>
          <p:nvPr>
            <p:ph idx="1"/>
          </p:nvPr>
        </p:nvSpPr>
        <p:spPr>
          <a:xfrm>
            <a:off x="3016576" y="0"/>
            <a:ext cx="8337223" cy="6787299"/>
          </a:xfrm>
        </p:spPr>
        <p:txBody>
          <a:bodyPr>
            <a:normAutofit fontScale="62500" lnSpcReduction="20000"/>
          </a:bodyPr>
          <a:lstStyle/>
          <a:p>
            <a:pPr>
              <a:buNone/>
            </a:pPr>
            <a:r>
              <a:rPr lang="en-US" b="1" dirty="0"/>
              <a:t>Conclusion Based on Zomato Data Analysis</a:t>
            </a:r>
          </a:p>
          <a:p>
            <a:pPr>
              <a:buFont typeface="+mj-lt"/>
              <a:buAutoNum type="arabicPeriod"/>
            </a:pPr>
            <a:r>
              <a:rPr lang="en-US" b="1" dirty="0"/>
              <a:t>Best Countries for Expansion:</a:t>
            </a:r>
            <a:endParaRPr lang="en-US" dirty="0"/>
          </a:p>
          <a:p>
            <a:pPr marL="742950" lvl="1" indent="-285750">
              <a:buFont typeface="+mj-lt"/>
              <a:buAutoNum type="arabicPeriod"/>
            </a:pPr>
            <a:r>
              <a:rPr lang="en-US" b="1" dirty="0"/>
              <a:t>Turkey</a:t>
            </a:r>
            <a:r>
              <a:rPr lang="en-US" dirty="0"/>
              <a:t> and </a:t>
            </a:r>
            <a:r>
              <a:rPr lang="en-US" b="1" dirty="0"/>
              <a:t>Sri Lanka</a:t>
            </a:r>
            <a:r>
              <a:rPr lang="en-US" dirty="0"/>
              <a:t> offer ideal opportunities for budget-friendly restaurants with lower competition and affordable dining costs.</a:t>
            </a:r>
          </a:p>
          <a:p>
            <a:pPr marL="742950" lvl="1" indent="-285750">
              <a:buFont typeface="+mj-lt"/>
              <a:buAutoNum type="arabicPeriod"/>
            </a:pPr>
            <a:r>
              <a:rPr lang="en-US" b="1" dirty="0"/>
              <a:t>Indonesia</a:t>
            </a:r>
            <a:r>
              <a:rPr lang="en-US" dirty="0"/>
              <a:t> and </a:t>
            </a:r>
            <a:r>
              <a:rPr lang="en-US" b="1" dirty="0"/>
              <a:t>South Africa</a:t>
            </a:r>
            <a:r>
              <a:rPr lang="en-US" dirty="0"/>
              <a:t> present stable investment options due to moderate costs and high customer ratings.</a:t>
            </a:r>
          </a:p>
          <a:p>
            <a:pPr marL="742950" lvl="1" indent="-285750">
              <a:buFont typeface="+mj-lt"/>
              <a:buAutoNum type="arabicPeriod"/>
            </a:pPr>
            <a:r>
              <a:rPr lang="en-US" b="1" dirty="0"/>
              <a:t>Philippines</a:t>
            </a:r>
            <a:r>
              <a:rPr lang="en-US" dirty="0"/>
              <a:t> is well-suited for premium dining establishments with higher spending capacity and strong customer satisfaction.</a:t>
            </a:r>
          </a:p>
          <a:p>
            <a:pPr>
              <a:buFont typeface="+mj-lt"/>
              <a:buAutoNum type="arabicPeriod"/>
            </a:pPr>
            <a:r>
              <a:rPr lang="en-US" b="1" dirty="0"/>
              <a:t>City-Level Insights:</a:t>
            </a:r>
            <a:endParaRPr lang="en-US" dirty="0"/>
          </a:p>
          <a:p>
            <a:pPr marL="742950" lvl="1" indent="-285750">
              <a:buFont typeface="+mj-lt"/>
              <a:buAutoNum type="arabicPeriod"/>
            </a:pPr>
            <a:r>
              <a:rPr lang="en-US" dirty="0"/>
              <a:t>Cities like </a:t>
            </a:r>
            <a:r>
              <a:rPr lang="en-US" b="1" dirty="0"/>
              <a:t>Ankara</a:t>
            </a:r>
            <a:r>
              <a:rPr lang="en-US" dirty="0"/>
              <a:t>, </a:t>
            </a:r>
            <a:r>
              <a:rPr lang="en-US" b="1" dirty="0"/>
              <a:t>Istanbul</a:t>
            </a:r>
            <a:r>
              <a:rPr lang="en-US" dirty="0"/>
              <a:t>, and </a:t>
            </a:r>
            <a:r>
              <a:rPr lang="en-US" b="1" dirty="0"/>
              <a:t>Colombo</a:t>
            </a:r>
            <a:r>
              <a:rPr lang="en-US" dirty="0"/>
              <a:t> are promising low-cost entry points for budget dining.</a:t>
            </a:r>
          </a:p>
          <a:p>
            <a:pPr marL="742950" lvl="1" indent="-285750">
              <a:buFont typeface="+mj-lt"/>
              <a:buAutoNum type="arabicPeriod"/>
            </a:pPr>
            <a:r>
              <a:rPr lang="en-US" b="1" dirty="0"/>
              <a:t>Pasig City</a:t>
            </a:r>
            <a:r>
              <a:rPr lang="en-US" dirty="0"/>
              <a:t> and </a:t>
            </a:r>
            <a:r>
              <a:rPr lang="en-US" b="1" dirty="0"/>
              <a:t>Quezon City</a:t>
            </a:r>
            <a:r>
              <a:rPr lang="en-US" dirty="0"/>
              <a:t> are prime locations for premium dining due to exceptional ratings.</a:t>
            </a:r>
          </a:p>
          <a:p>
            <a:pPr>
              <a:buFont typeface="+mj-lt"/>
              <a:buAutoNum type="arabicPeriod"/>
            </a:pPr>
            <a:r>
              <a:rPr lang="en-US" b="1" dirty="0"/>
              <a:t>Cuisine Recommendations:</a:t>
            </a:r>
            <a:endParaRPr lang="en-US" dirty="0"/>
          </a:p>
          <a:p>
            <a:pPr marL="742950" lvl="1" indent="-285750">
              <a:buFont typeface="+mj-lt"/>
              <a:buAutoNum type="arabicPeriod"/>
            </a:pPr>
            <a:r>
              <a:rPr lang="en-US" dirty="0"/>
              <a:t>Focus on popular cuisines such as </a:t>
            </a:r>
            <a:r>
              <a:rPr lang="en-US" b="1" dirty="0"/>
              <a:t>Bar Food</a:t>
            </a:r>
            <a:r>
              <a:rPr lang="en-US" dirty="0"/>
              <a:t>, </a:t>
            </a:r>
            <a:r>
              <a:rPr lang="en-US" b="1" dirty="0"/>
              <a:t>Asian</a:t>
            </a:r>
            <a:r>
              <a:rPr lang="en-US" dirty="0"/>
              <a:t>, and </a:t>
            </a:r>
            <a:r>
              <a:rPr lang="en-US" b="1" dirty="0"/>
              <a:t>Sushi</a:t>
            </a:r>
            <a:r>
              <a:rPr lang="en-US" dirty="0"/>
              <a:t> for mass appeal.</a:t>
            </a:r>
          </a:p>
          <a:p>
            <a:pPr marL="742950" lvl="1" indent="-285750">
              <a:buFont typeface="+mj-lt"/>
              <a:buAutoNum type="arabicPeriod"/>
            </a:pPr>
            <a:r>
              <a:rPr lang="en-US" dirty="0"/>
              <a:t>Introduce </a:t>
            </a:r>
            <a:r>
              <a:rPr lang="en-US" b="1" dirty="0"/>
              <a:t>Indonesian Sunda Cuisine</a:t>
            </a:r>
            <a:r>
              <a:rPr lang="en-US" dirty="0"/>
              <a:t> to attract local customers in Indonesia.</a:t>
            </a:r>
          </a:p>
          <a:p>
            <a:pPr>
              <a:buFont typeface="+mj-lt"/>
              <a:buAutoNum type="arabicPeriod"/>
            </a:pPr>
            <a:r>
              <a:rPr lang="en-US" b="1" dirty="0"/>
              <a:t>Service Recommendations:</a:t>
            </a:r>
            <a:endParaRPr lang="en-US" dirty="0"/>
          </a:p>
          <a:p>
            <a:pPr marL="742950" lvl="1" indent="-285750">
              <a:buFont typeface="+mj-lt"/>
              <a:buAutoNum type="arabicPeriod"/>
            </a:pPr>
            <a:r>
              <a:rPr lang="en-US" dirty="0"/>
              <a:t>Offering </a:t>
            </a:r>
            <a:r>
              <a:rPr lang="en-US" b="1" dirty="0"/>
              <a:t>Online Delivery</a:t>
            </a:r>
            <a:r>
              <a:rPr lang="en-US" dirty="0"/>
              <a:t> and </a:t>
            </a:r>
            <a:r>
              <a:rPr lang="en-US" b="1" dirty="0"/>
              <a:t>Table Booking</a:t>
            </a:r>
            <a:r>
              <a:rPr lang="en-US" dirty="0"/>
              <a:t> significantly improves customer satisfaction, making it essential for new restaurant openings.</a:t>
            </a:r>
          </a:p>
          <a:p>
            <a:pPr>
              <a:buFont typeface="+mj-lt"/>
              <a:buAutoNum type="arabicPeriod"/>
            </a:pPr>
            <a:r>
              <a:rPr lang="en-US" b="1" dirty="0"/>
              <a:t>Pricing Strategy:</a:t>
            </a:r>
            <a:endParaRPr lang="en-US" dirty="0"/>
          </a:p>
          <a:p>
            <a:pPr marL="742950" lvl="1" indent="-285750">
              <a:buFont typeface="+mj-lt"/>
              <a:buAutoNum type="arabicPeriod"/>
            </a:pPr>
            <a:r>
              <a:rPr lang="en-US" dirty="0"/>
              <a:t>Expanding in </a:t>
            </a:r>
            <a:r>
              <a:rPr lang="en-US" b="1" dirty="0"/>
              <a:t>Turkey</a:t>
            </a:r>
            <a:r>
              <a:rPr lang="en-US" dirty="0"/>
              <a:t> and </a:t>
            </a:r>
            <a:r>
              <a:rPr lang="en-US" b="1" dirty="0"/>
              <a:t>Sri Lanka</a:t>
            </a:r>
            <a:r>
              <a:rPr lang="en-US" dirty="0"/>
              <a:t> requires budget-focused strategies, while </a:t>
            </a:r>
            <a:r>
              <a:rPr lang="en-US" b="1" dirty="0"/>
              <a:t>Philippines</a:t>
            </a:r>
            <a:r>
              <a:rPr lang="en-US" dirty="0"/>
              <a:t> demands premium dining experiences.</a:t>
            </a:r>
          </a:p>
          <a:p>
            <a:pPr>
              <a:buFont typeface="+mj-lt"/>
              <a:buAutoNum type="arabicPeriod"/>
            </a:pPr>
            <a:r>
              <a:rPr lang="en-US" b="1" dirty="0"/>
              <a:t>Competitive Edge:</a:t>
            </a:r>
            <a:endParaRPr lang="en-US" dirty="0"/>
          </a:p>
          <a:p>
            <a:pPr marL="742950" lvl="1" indent="-285750">
              <a:buFont typeface="+mj-lt"/>
              <a:buAutoNum type="arabicPeriod"/>
            </a:pPr>
            <a:r>
              <a:rPr lang="en-US" dirty="0"/>
              <a:t>Monitoring competitors and enhancing customer experience with improved services, unique cuisine offerings, and strategic pricing will ensure successful market entry.</a:t>
            </a:r>
          </a:p>
          <a:p>
            <a:pPr>
              <a:buNone/>
            </a:pPr>
            <a:r>
              <a:rPr lang="en-US" b="1" dirty="0"/>
              <a:t>Final Note:</a:t>
            </a:r>
          </a:p>
          <a:p>
            <a:r>
              <a:rPr lang="en-US" dirty="0"/>
              <a:t>By strategically targeting countries with lesser competition, optimizing service offerings, and aligning cuisine choices with local preferences, Zomato can achieve successful expansion while meeting diverse customer demands.</a:t>
            </a:r>
          </a:p>
          <a:p>
            <a:endParaRPr lang="en-IN" dirty="0"/>
          </a:p>
        </p:txBody>
      </p:sp>
      <p:pic>
        <p:nvPicPr>
          <p:cNvPr id="5" name="Picture 4">
            <a:extLst>
              <a:ext uri="{FF2B5EF4-FFF2-40B4-BE49-F238E27FC236}">
                <a16:creationId xmlns:a16="http://schemas.microsoft.com/office/drawing/2014/main" id="{3240E71E-B981-6968-6458-5754164565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7" y="0"/>
            <a:ext cx="2771479" cy="4798243"/>
          </a:xfrm>
          <a:prstGeom prst="rect">
            <a:avLst/>
          </a:prstGeom>
        </p:spPr>
      </p:pic>
    </p:spTree>
    <p:extLst>
      <p:ext uri="{BB962C8B-B14F-4D97-AF65-F5344CB8AC3E}">
        <p14:creationId xmlns:p14="http://schemas.microsoft.com/office/powerpoint/2010/main" val="1705417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2246</Words>
  <Application>Microsoft Office PowerPoint</Application>
  <PresentationFormat>Widescreen</PresentationFormat>
  <Paragraphs>133</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Google Sans</vt:lpstr>
      <vt:lpstr>Segoe UI Emoji</vt:lpstr>
      <vt:lpstr>Segoe UI Symbol</vt:lpstr>
      <vt:lpstr>Office Theme</vt:lpstr>
      <vt:lpstr>Ravindra Singh Negi ZOMATO DATA ANALYSIS</vt:lpstr>
      <vt:lpstr>Problem Statement</vt:lpstr>
      <vt:lpstr>PowerPoint Presentation</vt:lpstr>
      <vt:lpstr>PowerPoint Presentation</vt:lpstr>
      <vt:lpstr>PowerPoint Presentation</vt:lpstr>
      <vt:lpstr>Australia: 24 restaurants  Brazil: 60 restaurants  Canada: 4 restaurants  India: 8652 restaurants  Indonesia: 21 restaurants  New Zealand: 40 restaurants  Philippines: 22 restaurants  Qatar: 20 restaurants  Singapore: 20 restaurants  South Africa: 60 restaurants  Sri Lanka: 20 restaurants  Turkey: 34 restaurants  United Arab Emirates: 60 restaurants  United Kingdom: 80 restaurants  United States of America: 434 restaurants </vt:lpstr>
      <vt:lpstr>Over the years, the restaurant industry has seen consistent growth, with new establishments opening steadily each year. The data reveals a dynamic expansion pattern from 2010 to 2018, showcasing resilience and adaptability in the food business. The year 2018 recorded the highest number of new restaurant openings at 1,102, signaling a peak in the decade. Prior to this, 2011 also saw a strong surge with 1,098 restaurants. Notably, 2010 and 2017 followed closely behind with 1,080 and 1,086 openings, respectively. While there were minor fluctuations, the trend remained stable, with new openings averaging around 1,020–1,100 annually. The lowest recorded year was 2012, with 1,022 restaurants, but the industry quickly rebounded, maintaining a steady pace. This data underscores the robustness of the restaurant industry, highlighting consistent investment and expansion efforts despite economic shifts. The steady influx of new restaurants each year reflects ongoing demand, evolving culinary trends, and the ever-growing consumer appetite for dining experiences.</vt:lpstr>
      <vt:lpstr>PowerPoint Presentation</vt:lpstr>
      <vt:lpstr>PowerPoint Presentation</vt:lpstr>
      <vt:lpstr>PowerPoint Presentation</vt:lpstr>
      <vt:lpstr>Indonesia Bandung (₹750, Rating: 4.2) – Affordable dining with strong customer feedback. Bogor (₹800, Rating: 3.85) – A budget-friendly market with room for growth. Tangerang (₹1,250, Rating: 4.3) – Balanced pricing with excellent customer satisfaction. Philippines Pasig City (₹5,917, Rating: 4.63) – A premium dining hub with remarkable reviews. Quezon City (₹5,072, Rating: 4.8) – Outstanding ratings suggest strong customer loyalty. South Africa Randburg (₹946, Rating: 4.3) – Affordable with impressive customer ratings. Sandton (₹1,778, Rating: 4.3) – Balanced pricing with high demand potential. Sri Lanka Colombo (₹712.50, Rating: 3.87) – Budget dining with emerging customer interest. Turkey Ankara (₹208.53, Rating: 4.3) – Extremely low dining costs with strong customer approval. Istanbul (₹194.61, Rating: 4.29) – Budget-friendly yet highly rated dining destination. </vt:lpstr>
      <vt:lpstr>Key Countries for Expansion Turkey – ₹202.80 (Lowest Cost) With incredibly low dining costs, Turkey offers an ideal entry point for budget-friendly restaurants. This is a prime opportunity to tap into a price-conscious market with minimal investment. Sri Lanka – ₹712.50 With affordable dining expenses and emerging customer demand, Sri Lanka is perfect for launching mid-range restaurants that cater to locals and tourists alike. Indonesia – ₹1,405.95 Known for its rich food culture and growing dining scene, Indonesia offers a balanced mix of affordability and customer satisfaction, making it a stable investment choice. South Africa – ₹1,985.34 With slightly higher costs but a strong demand for dining experiences, South Africa is ideal for restaurants aiming to deliver quality meals at moderate prices. Philippines – ₹10,187.23 Despite higher costs, the Philippines presents an opportunity for premium dining experiences, catering to customers willing to pay more for quality food. </vt:lpstr>
      <vt:lpstr>Our data reveals crucial insights about how online delivery and table booking influence customer satisfaction. 📊 Key Findings Online Delivery Impact:  With Delivery: 3.29 average rating (higher satisfaction) Without Delivery: 2.75 average rating ✅ Conclusion: Restaurants offering delivery services receive higher ratings, indicating improved customer convenience and satisfaction. Table Booking Impact:  With Table Booking: 3.48 average rating (significantly higher) Without Table Booking: 2.81 average rating ✅ Conclusion: Restaurants with table booking options achieve higher customer satisfaction, suggesting smoother dining experiences and better service quality. 🔍 Key Insights for Growth Strategy Online Delivery Boosts Satisfaction: Implementing a reliable delivery system can cater to customers seeking convenience, driving better ratings. Table Booking Elevates Experience: Enabling reservations enhances customer comfort, reduces waiting times, and attracts groups or special-event diners. Combined Strategy for Maximum Impact: Restaurants that provide both delivery and table booking are likely to see the highest customer satisfaction rates. </vt:lpstr>
      <vt:lpstr>Price Range Analysis Price Range 1 (Lowest Price) – 4,444 restaurants ➔ Dominates the market, indicating strong demand for budget-friendly dining options. Price Range 2 (Moderate Pricing) – 3,113 restaurants ➔ Popular among customers seeking quality meals at reasonable prices. Price Range 3 (Premium Dining) – 1,408 restaurants ➔ A smaller yet significant segment catering to those willing to spend more for better quality and service. Price Range 4 (High-End Dining) – 586 restaurants ➔ The least competitive segment, presenting an opportunity for luxury dining concepts.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 Negi</dc:creator>
  <cp:lastModifiedBy>Ravi Negi</cp:lastModifiedBy>
  <cp:revision>28</cp:revision>
  <dcterms:created xsi:type="dcterms:W3CDTF">2025-03-09T03:22:30Z</dcterms:created>
  <dcterms:modified xsi:type="dcterms:W3CDTF">2025-04-28T15:45:06Z</dcterms:modified>
</cp:coreProperties>
</file>